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5.xml"/><Relationship Id="rId5" Type="http://schemas.openxmlformats.org/officeDocument/2006/relationships/slide" Target="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4.xml"/><Relationship Id="rId8"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685800" y="1188720"/>
            <a:ext cx="1051560" cy="50292"/>
          </a:xfrm>
          <a:prstGeom prst="rect">
            <a:avLst/>
          </a:prstGeom>
          <a:solidFill>
            <a:srgbClr val="008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1481328"/>
            <a:ext cx="10820095" cy="228600"/>
          </a:xfrm>
          <a:prstGeom prst="rect">
            <a:avLst/>
          </a:prstGeom>
          <a:noFill/>
        </p:spPr>
        <p:txBody>
          <a:bodyPr wrap="square" anchor="t" lIns="0" rIns="0" tIns="0" bIns="0">
            <a:spAutoFit/>
          </a:bodyPr>
          <a:lstStyle/>
          <a:p>
            <a:pPr algn="l">
              <a:lnSpc>
                <a:spcPct val="100000"/>
              </a:lnSpc>
            </a:pPr>
            <a:r>
              <a:rPr sz="950" b="0">
                <a:solidFill>
                  <a:srgbClr val="84919C"/>
                </a:solidFill>
                <a:latin typeface="Menlo"/>
              </a:rPr>
              <a:t>IIT PATNA USDC  ·  GENAI DEVELOPMENT PROGRAM</a:t>
            </a:r>
          </a:p>
        </p:txBody>
      </p:sp>
      <p:sp>
        <p:nvSpPr>
          <p:cNvPr id="5" name="TextBox 4"/>
          <p:cNvSpPr txBox="1"/>
          <p:nvPr/>
        </p:nvSpPr>
        <p:spPr>
          <a:xfrm>
            <a:off x="685800" y="1901952"/>
            <a:ext cx="10820095" cy="1554480"/>
          </a:xfrm>
          <a:prstGeom prst="rect">
            <a:avLst/>
          </a:prstGeom>
          <a:noFill/>
        </p:spPr>
        <p:txBody>
          <a:bodyPr wrap="square" anchor="t" lIns="0" rIns="0" tIns="0" bIns="0">
            <a:spAutoFit/>
          </a:bodyPr>
          <a:lstStyle/>
          <a:p>
            <a:pPr algn="l">
              <a:lnSpc>
                <a:spcPct val="100000"/>
              </a:lnSpc>
            </a:pPr>
            <a:r>
              <a:rPr sz="5400" b="1">
                <a:solidFill>
                  <a:srgbClr val="131A20"/>
                </a:solidFill>
                <a:latin typeface="Helvetica Neue"/>
              </a:rPr>
              <a:t>Employee Knowledge</a:t>
            </a:r>
          </a:p>
          <a:p>
            <a:pPr algn="l">
              <a:lnSpc>
                <a:spcPct val="100000"/>
              </a:lnSpc>
              <a:spcBef>
                <a:spcPts val="0"/>
              </a:spcBef>
            </a:pPr>
            <a:r>
              <a:rPr sz="5400" b="1">
                <a:solidFill>
                  <a:srgbClr val="131A20"/>
                </a:solidFill>
                <a:latin typeface="Helvetica Neue"/>
              </a:rPr>
              <a:t>Assistant</a:t>
            </a:r>
          </a:p>
        </p:txBody>
      </p:sp>
      <p:sp>
        <p:nvSpPr>
          <p:cNvPr id="6" name="TextBox 5"/>
          <p:cNvSpPr txBox="1"/>
          <p:nvPr/>
        </p:nvSpPr>
        <p:spPr>
          <a:xfrm>
            <a:off x="685800" y="3703320"/>
            <a:ext cx="8778240" cy="640080"/>
          </a:xfrm>
          <a:prstGeom prst="rect">
            <a:avLst/>
          </a:prstGeom>
          <a:noFill/>
        </p:spPr>
        <p:txBody>
          <a:bodyPr wrap="square" anchor="t" lIns="0" rIns="0" tIns="0" bIns="0">
            <a:spAutoFit/>
          </a:bodyPr>
          <a:lstStyle/>
          <a:p>
            <a:pPr algn="l">
              <a:lnSpc>
                <a:spcPct val="145000"/>
              </a:lnSpc>
            </a:pPr>
            <a:r>
              <a:rPr sz="1400" b="0">
                <a:solidFill>
                  <a:srgbClr val="56636E"/>
                </a:solidFill>
                <a:latin typeface="Helvetica Neue"/>
              </a:rPr>
              <a:t>Final Capstone — Project 2: Enterprise Knowledge Assistant with Advanced RAG</a:t>
            </a:r>
          </a:p>
        </p:txBody>
      </p:sp>
      <p:sp>
        <p:nvSpPr>
          <p:cNvPr id="7" name="TextBox 6"/>
          <p:cNvSpPr txBox="1"/>
          <p:nvPr/>
        </p:nvSpPr>
        <p:spPr>
          <a:xfrm>
            <a:off x="685800" y="4224528"/>
            <a:ext cx="8778240" cy="292608"/>
          </a:xfrm>
          <a:prstGeom prst="rect">
            <a:avLst/>
          </a:prstGeom>
          <a:noFill/>
        </p:spPr>
        <p:txBody>
          <a:bodyPr wrap="square" anchor="t" lIns="0" rIns="0" tIns="0" bIns="0">
            <a:spAutoFit/>
          </a:bodyPr>
          <a:lstStyle/>
          <a:p>
            <a:pPr algn="l">
              <a:lnSpc>
                <a:spcPct val="100000"/>
              </a:lnSpc>
            </a:pPr>
            <a:r>
              <a:rPr sz="950" b="0">
                <a:solidFill>
                  <a:srgbClr val="84919C"/>
                </a:solidFill>
                <a:latin typeface="Menlo"/>
              </a:rPr>
              <a:t>Hybrid retrieval  ·  conversational memory  ·  grounded citations or an honest refusal</a:t>
            </a:r>
          </a:p>
        </p:txBody>
      </p:sp>
      <p:cxnSp>
        <p:nvCxnSpPr>
          <p:cNvPr id="8" name="Connector 7"/>
          <p:cNvCxnSpPr/>
          <p:nvPr/>
        </p:nvCxnSpPr>
        <p:spPr>
          <a:xfrm>
            <a:off x="685800" y="5138928"/>
            <a:ext cx="10820095" cy="0"/>
          </a:xfrm>
          <a:prstGeom prst="line">
            <a:avLst/>
          </a:prstGeom>
          <a:ln w="9525">
            <a:solidFill>
              <a:srgbClr val="D2DAE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85800" y="5340096"/>
            <a:ext cx="5486400" cy="18288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PRESENTED BY</a:t>
            </a:r>
          </a:p>
        </p:txBody>
      </p:sp>
      <p:sp>
        <p:nvSpPr>
          <p:cNvPr id="10" name="TextBox 9"/>
          <p:cNvSpPr txBox="1"/>
          <p:nvPr/>
        </p:nvSpPr>
        <p:spPr>
          <a:xfrm>
            <a:off x="685800" y="5559552"/>
            <a:ext cx="5486400" cy="329184"/>
          </a:xfrm>
          <a:prstGeom prst="rect">
            <a:avLst/>
          </a:prstGeom>
          <a:noFill/>
        </p:spPr>
        <p:txBody>
          <a:bodyPr wrap="square" anchor="t" lIns="0" rIns="0" tIns="0" bIns="0">
            <a:spAutoFit/>
          </a:bodyPr>
          <a:lstStyle/>
          <a:p>
            <a:pPr algn="l">
              <a:lnSpc>
                <a:spcPct val="100000"/>
              </a:lnSpc>
            </a:pPr>
            <a:r>
              <a:rPr sz="2100" b="1">
                <a:solidFill>
                  <a:srgbClr val="131A20"/>
                </a:solidFill>
                <a:latin typeface="Helvetica Neue"/>
              </a:rPr>
              <a:t>Ankit Bharti</a:t>
            </a:r>
          </a:p>
        </p:txBody>
      </p:sp>
      <p:sp>
        <p:nvSpPr>
          <p:cNvPr id="11" name="TextBox 10"/>
          <p:cNvSpPr txBox="1"/>
          <p:nvPr/>
        </p:nvSpPr>
        <p:spPr>
          <a:xfrm>
            <a:off x="6933895" y="5340096"/>
            <a:ext cx="4572000" cy="182880"/>
          </a:xfrm>
          <a:prstGeom prst="rect">
            <a:avLst/>
          </a:prstGeom>
          <a:noFill/>
        </p:spPr>
        <p:txBody>
          <a:bodyPr wrap="square" anchor="t" lIns="0" rIns="0" tIns="0" bIns="0">
            <a:spAutoFit/>
          </a:bodyPr>
          <a:lstStyle/>
          <a:p>
            <a:pPr algn="r">
              <a:lnSpc>
                <a:spcPct val="100000"/>
              </a:lnSpc>
            </a:pPr>
            <a:r>
              <a:rPr sz="850" b="0">
                <a:solidFill>
                  <a:srgbClr val="84919C"/>
                </a:solidFill>
                <a:latin typeface="Menlo"/>
              </a:rPr>
              <a:t>SUBMITTED</a:t>
            </a:r>
          </a:p>
        </p:txBody>
      </p:sp>
      <p:sp>
        <p:nvSpPr>
          <p:cNvPr id="12" name="TextBox 11"/>
          <p:cNvSpPr txBox="1"/>
          <p:nvPr/>
        </p:nvSpPr>
        <p:spPr>
          <a:xfrm>
            <a:off x="6933895" y="5559552"/>
            <a:ext cx="4572000" cy="274320"/>
          </a:xfrm>
          <a:prstGeom prst="rect">
            <a:avLst/>
          </a:prstGeom>
          <a:noFill/>
        </p:spPr>
        <p:txBody>
          <a:bodyPr wrap="square" anchor="t" lIns="0" rIns="0" tIns="0" bIns="0">
            <a:spAutoFit/>
          </a:bodyPr>
          <a:lstStyle/>
          <a:p>
            <a:pPr algn="r">
              <a:lnSpc>
                <a:spcPct val="100000"/>
              </a:lnSpc>
            </a:pPr>
            <a:r>
              <a:rPr sz="1300" b="0">
                <a:solidFill>
                  <a:srgbClr val="56636E"/>
                </a:solidFill>
                <a:latin typeface="Helvetica Neue"/>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1024128"/>
            <a:ext cx="5486400" cy="22860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ENTERPRISE KNOWLEDGE ASSISTANT  ·  ADVANCED RAG</a:t>
            </a:r>
          </a:p>
        </p:txBody>
      </p:sp>
      <p:sp>
        <p:nvSpPr>
          <p:cNvPr id="4" name="TextBox 3"/>
          <p:cNvSpPr txBox="1"/>
          <p:nvPr/>
        </p:nvSpPr>
        <p:spPr>
          <a:xfrm>
            <a:off x="685800" y="1353312"/>
            <a:ext cx="5669280" cy="2103120"/>
          </a:xfrm>
          <a:prstGeom prst="rect">
            <a:avLst/>
          </a:prstGeom>
          <a:noFill/>
        </p:spPr>
        <p:txBody>
          <a:bodyPr wrap="square" anchor="t" lIns="0" rIns="0" tIns="0" bIns="0">
            <a:spAutoFit/>
          </a:bodyPr>
          <a:lstStyle/>
          <a:p>
            <a:pPr algn="l">
              <a:lnSpc>
                <a:spcPct val="100000"/>
              </a:lnSpc>
            </a:pPr>
            <a:r>
              <a:rPr sz="4000" b="1">
                <a:solidFill>
                  <a:srgbClr val="131A20"/>
                </a:solidFill>
                <a:latin typeface="Helvetica Neue"/>
              </a:rPr>
              <a:t>Employee</a:t>
            </a:r>
          </a:p>
          <a:p>
            <a:pPr algn="l">
              <a:lnSpc>
                <a:spcPct val="100000"/>
              </a:lnSpc>
              <a:spcBef>
                <a:spcPts val="0"/>
              </a:spcBef>
            </a:pPr>
            <a:r>
              <a:rPr sz="4000" b="1">
                <a:solidFill>
                  <a:srgbClr val="131A20"/>
                </a:solidFill>
                <a:latin typeface="Helvetica Neue"/>
              </a:rPr>
              <a:t>Knowledge</a:t>
            </a:r>
          </a:p>
          <a:p>
            <a:pPr algn="l">
              <a:lnSpc>
                <a:spcPct val="100000"/>
              </a:lnSpc>
              <a:spcBef>
                <a:spcPts val="0"/>
              </a:spcBef>
            </a:pPr>
            <a:r>
              <a:rPr sz="4000" b="1">
                <a:solidFill>
                  <a:srgbClr val="131A20"/>
                </a:solidFill>
                <a:latin typeface="Helvetica Neue"/>
              </a:rPr>
              <a:t>Assistant</a:t>
            </a:r>
          </a:p>
        </p:txBody>
      </p:sp>
      <p:sp>
        <p:nvSpPr>
          <p:cNvPr id="5" name="TextBox 4"/>
          <p:cNvSpPr txBox="1"/>
          <p:nvPr/>
        </p:nvSpPr>
        <p:spPr>
          <a:xfrm>
            <a:off x="685800" y="3584448"/>
            <a:ext cx="5029200" cy="1188720"/>
          </a:xfrm>
          <a:prstGeom prst="rect">
            <a:avLst/>
          </a:prstGeom>
          <a:noFill/>
        </p:spPr>
        <p:txBody>
          <a:bodyPr wrap="square" anchor="t" lIns="0" rIns="0" tIns="0" bIns="0">
            <a:spAutoFit/>
          </a:bodyPr>
          <a:lstStyle/>
          <a:p>
            <a:pPr algn="l">
              <a:lnSpc>
                <a:spcPct val="145000"/>
              </a:lnSpc>
            </a:pPr>
            <a:r>
              <a:rPr sz="1250" b="0">
                <a:solidFill>
                  <a:srgbClr val="56636E"/>
                </a:solidFill>
                <a:latin typeface="Helvetica Neue"/>
              </a:rPr>
              <a:t>Answers policy questions from the company's own documents — retrieving twice, reranking locally, citing the passages it actually used, and refusing when the corpus has no answer.</a:t>
            </a:r>
          </a:p>
        </p:txBody>
      </p:sp>
      <p:sp>
        <p:nvSpPr>
          <p:cNvPr id="6" name="Rectangle 5"/>
          <p:cNvSpPr/>
          <p:nvPr/>
        </p:nvSpPr>
        <p:spPr>
          <a:xfrm>
            <a:off x="685800" y="4901184"/>
            <a:ext cx="1408176" cy="310896"/>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85800" y="4983480"/>
            <a:ext cx="1408176" cy="182880"/>
          </a:xfrm>
          <a:prstGeom prst="rect">
            <a:avLst/>
          </a:prstGeom>
          <a:noFill/>
        </p:spPr>
        <p:txBody>
          <a:bodyPr wrap="square" anchor="t" lIns="0" rIns="0" tIns="0" bIns="0">
            <a:spAutoFit/>
          </a:bodyPr>
          <a:lstStyle/>
          <a:p>
            <a:pPr algn="ctr">
              <a:lnSpc>
                <a:spcPct val="100000"/>
              </a:lnSpc>
            </a:pPr>
            <a:r>
              <a:rPr sz="900" b="0">
                <a:solidFill>
                  <a:srgbClr val="56636E"/>
                </a:solidFill>
                <a:latin typeface="Menlo"/>
              </a:rPr>
              <a:t>Hybrid retrieval</a:t>
            </a:r>
          </a:p>
        </p:txBody>
      </p:sp>
      <p:sp>
        <p:nvSpPr>
          <p:cNvPr id="8" name="Rectangle 7"/>
          <p:cNvSpPr/>
          <p:nvPr/>
        </p:nvSpPr>
        <p:spPr>
          <a:xfrm>
            <a:off x="2221992" y="4901184"/>
            <a:ext cx="1751076" cy="310896"/>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221992" y="4983480"/>
            <a:ext cx="1751076" cy="182880"/>
          </a:xfrm>
          <a:prstGeom prst="rect">
            <a:avLst/>
          </a:prstGeom>
          <a:noFill/>
        </p:spPr>
        <p:txBody>
          <a:bodyPr wrap="square" anchor="t" lIns="0" rIns="0" tIns="0" bIns="0">
            <a:spAutoFit/>
          </a:bodyPr>
          <a:lstStyle/>
          <a:p>
            <a:pPr algn="ctr">
              <a:lnSpc>
                <a:spcPct val="100000"/>
              </a:lnSpc>
            </a:pPr>
            <a:r>
              <a:rPr sz="900" b="0">
                <a:solidFill>
                  <a:srgbClr val="56636E"/>
                </a:solidFill>
                <a:latin typeface="Menlo"/>
              </a:rPr>
              <a:t>Conversational memory</a:t>
            </a:r>
          </a:p>
        </p:txBody>
      </p:sp>
      <p:sp>
        <p:nvSpPr>
          <p:cNvPr id="10" name="Rectangle 9"/>
          <p:cNvSpPr/>
          <p:nvPr/>
        </p:nvSpPr>
        <p:spPr>
          <a:xfrm>
            <a:off x="4101084" y="4901184"/>
            <a:ext cx="1613916" cy="310896"/>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01084" y="4983480"/>
            <a:ext cx="1613916" cy="182880"/>
          </a:xfrm>
          <a:prstGeom prst="rect">
            <a:avLst/>
          </a:prstGeom>
          <a:noFill/>
        </p:spPr>
        <p:txBody>
          <a:bodyPr wrap="square" anchor="t" lIns="0" rIns="0" tIns="0" bIns="0">
            <a:spAutoFit/>
          </a:bodyPr>
          <a:lstStyle/>
          <a:p>
            <a:pPr algn="ctr">
              <a:lnSpc>
                <a:spcPct val="100000"/>
              </a:lnSpc>
            </a:pPr>
            <a:r>
              <a:rPr sz="900" b="0">
                <a:solidFill>
                  <a:srgbClr val="56636E"/>
                </a:solidFill>
                <a:latin typeface="Menlo"/>
              </a:rPr>
              <a:t>Grounded or refused</a:t>
            </a:r>
          </a:p>
        </p:txBody>
      </p:sp>
      <p:cxnSp>
        <p:nvCxnSpPr>
          <p:cNvPr id="12" name="Connector 11"/>
          <p:cNvCxnSpPr/>
          <p:nvPr/>
        </p:nvCxnSpPr>
        <p:spPr>
          <a:xfrm>
            <a:off x="685800" y="5468112"/>
            <a:ext cx="5029200"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85800" y="5614416"/>
            <a:ext cx="5486400" cy="548640"/>
          </a:xfrm>
          <a:prstGeom prst="rect">
            <a:avLst/>
          </a:prstGeom>
          <a:noFill/>
        </p:spPr>
        <p:txBody>
          <a:bodyPr wrap="square" anchor="t" lIns="0" rIns="0" tIns="0" bIns="0">
            <a:spAutoFit/>
          </a:bodyPr>
          <a:lstStyle/>
          <a:p>
            <a:pPr algn="l">
              <a:lnSpc>
                <a:spcPct val="160000"/>
              </a:lnSpc>
            </a:pPr>
            <a:r>
              <a:rPr sz="850" b="0">
                <a:solidFill>
                  <a:srgbClr val="84919C"/>
                </a:solidFill>
                <a:latin typeface="Menlo"/>
              </a:rPr>
              <a:t>7 policy documents  ·  57 chunks  ·  PDF / DOCX / TXT</a:t>
            </a:r>
          </a:p>
          <a:p>
            <a:pPr algn="l">
              <a:lnSpc>
                <a:spcPct val="160000"/>
              </a:lnSpc>
              <a:spcBef>
                <a:spcPts val="0"/>
              </a:spcBef>
            </a:pPr>
            <a:r>
              <a:rPr sz="850" b="0">
                <a:solidFill>
                  <a:srgbClr val="84919C"/>
                </a:solidFill>
                <a:latin typeface="Menlo"/>
              </a:rPr>
              <a:t>18 curated eval questions  ·  answerable, unanswerable, multi-turn</a:t>
            </a:r>
          </a:p>
        </p:txBody>
      </p:sp>
      <p:sp>
        <p:nvSpPr>
          <p:cNvPr id="14" name="Rectangle 13"/>
          <p:cNvSpPr/>
          <p:nvPr/>
        </p:nvSpPr>
        <p:spPr>
          <a:xfrm>
            <a:off x="6428232" y="2249424"/>
            <a:ext cx="5074920" cy="2248189"/>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app-full.png"/>
          <p:cNvPicPr>
            <a:picLocks noChangeAspect="1"/>
          </p:cNvPicPr>
          <p:nvPr/>
        </p:nvPicPr>
        <p:blipFill>
          <a:blip r:embed="rId2"/>
          <a:stretch>
            <a:fillRect/>
          </a:stretch>
        </p:blipFill>
        <p:spPr>
          <a:xfrm>
            <a:off x="6428232" y="2249424"/>
            <a:ext cx="5074920" cy="2247465"/>
          </a:xfrm>
          <a:prstGeom prst="rect">
            <a:avLst/>
          </a:prstGeom>
        </p:spPr>
      </p:pic>
      <p:sp>
        <p:nvSpPr>
          <p:cNvPr id="16" name="TextBox 15"/>
          <p:cNvSpPr txBox="1"/>
          <p:nvPr/>
        </p:nvSpPr>
        <p:spPr>
          <a:xfrm>
            <a:off x="6428232" y="4572000"/>
            <a:ext cx="5074920" cy="201168"/>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app/streamlit_app.py  ·  localhost:8501</a:t>
            </a:r>
          </a:p>
        </p:txBody>
      </p:sp>
      <p:cxnSp>
        <p:nvCxnSpPr>
          <p:cNvPr id="17" name="Connector 16"/>
          <p:cNvCxnSpPr/>
          <p:nvPr/>
        </p:nvCxnSpPr>
        <p:spPr>
          <a:xfrm>
            <a:off x="685800" y="6327648"/>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85800" y="6437376"/>
            <a:ext cx="6400800" cy="201168"/>
          </a:xfrm>
          <a:prstGeom prst="rect">
            <a:avLst/>
          </a:prstGeom>
          <a:noFill/>
        </p:spPr>
        <p:txBody>
          <a:bodyPr wrap="square" anchor="t" lIns="0" rIns="0" tIns="0" bIns="0">
            <a:spAutoFit/>
          </a:bodyPr>
          <a:lstStyle/>
          <a:p>
            <a:pPr algn="l">
              <a:lnSpc>
                <a:spcPct val="100000"/>
              </a:lnSpc>
            </a:pPr>
            <a:r>
              <a:rPr sz="800" b="0">
                <a:solidFill>
                  <a:srgbClr val="84919C"/>
                </a:solidFill>
                <a:latin typeface="Menlo"/>
              </a:rPr>
              <a:t>Employee Knowledge Assistant  ·  IIT Patna USDC GenAI Capstone  ·  Overview</a:t>
            </a:r>
          </a:p>
        </p:txBody>
      </p:sp>
      <p:sp>
        <p:nvSpPr>
          <p:cNvPr id="19" name="TextBox 18"/>
          <p:cNvSpPr txBox="1"/>
          <p:nvPr/>
        </p:nvSpPr>
        <p:spPr>
          <a:xfrm>
            <a:off x="8579815" y="6437376"/>
            <a:ext cx="2926080" cy="201168"/>
          </a:xfrm>
          <a:prstGeom prst="rect">
            <a:avLst/>
          </a:prstGeom>
          <a:noFill/>
        </p:spPr>
        <p:txBody>
          <a:bodyPr wrap="none" lIns="0" rIns="0" tIns="0" bIns="0">
            <a:spAutoFit/>
          </a:bodyPr>
          <a:lstStyle/>
          <a:p>
            <a:pPr algn="r">
              <a:lnSpc>
                <a:spcPct val="100000"/>
              </a:lnSpc>
            </a:pPr>
            <a:r>
              <a:rPr sz="800" b="1">
                <a:solidFill>
                  <a:srgbClr val="00836E"/>
                </a:solidFill>
                <a:latin typeface="Menlo"/>
              </a:rPr>
              <a:t>01</a:t>
            </a:r>
            <a:r>
              <a:rPr sz="800">
                <a:solidFill>
                  <a:srgbClr val="D2DAE0"/>
                </a:solidFill>
                <a:latin typeface="Menlo"/>
              </a:rPr>
              <a:t>   </a:t>
            </a:r>
            <a:r>
              <a:rPr sz="800" b="0">
                <a:solidFill>
                  <a:srgbClr val="84919C"/>
                </a:solidFill>
                <a:latin typeface="Menlo"/>
                <a:hlinkClick r:id="rId3" action="ppaction://hlinksldjump"/>
              </a:rPr>
              <a:t>02</a:t>
            </a:r>
            <a:r>
              <a:rPr sz="800">
                <a:solidFill>
                  <a:srgbClr val="D2DAE0"/>
                </a:solidFill>
                <a:latin typeface="Menlo"/>
              </a:rPr>
              <a:t>   </a:t>
            </a:r>
            <a:r>
              <a:rPr sz="800" b="0">
                <a:solidFill>
                  <a:srgbClr val="84919C"/>
                </a:solidFill>
                <a:latin typeface="Menlo"/>
                <a:hlinkClick r:id="rId4" action="ppaction://hlinksldjump"/>
              </a:rPr>
              <a:t>03</a:t>
            </a:r>
            <a:r>
              <a:rPr sz="800">
                <a:solidFill>
                  <a:srgbClr val="D2DAE0"/>
                </a:solidFill>
                <a:latin typeface="Menlo"/>
              </a:rPr>
              <a:t>   </a:t>
            </a:r>
            <a:r>
              <a:rPr sz="800" b="0">
                <a:solidFill>
                  <a:srgbClr val="84919C"/>
                </a:solidFill>
                <a:latin typeface="Menlo"/>
                <a:hlinkClick r:id="rId5" action="ppaction://hlinksldjump"/>
              </a:rPr>
              <a:t>04</a:t>
            </a:r>
            <a:r>
              <a:rPr sz="800">
                <a:solidFill>
                  <a:srgbClr val="D2DAE0"/>
                </a:solidFill>
                <a:latin typeface="Menlo"/>
              </a:rPr>
              <a:t>   </a:t>
            </a:r>
            <a:r>
              <a:rPr sz="800" b="0">
                <a:solidFill>
                  <a:srgbClr val="84919C"/>
                </a:solidFill>
                <a:latin typeface="Menlo"/>
                <a:hlinkClick r:id="rId6" action="ppaction://hlinksldjump"/>
              </a:rPr>
              <a:t>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566928"/>
            <a:ext cx="10820095" cy="22860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THE GAP</a:t>
            </a:r>
          </a:p>
        </p:txBody>
      </p:sp>
      <p:sp>
        <p:nvSpPr>
          <p:cNvPr id="4" name="TextBox 3"/>
          <p:cNvSpPr txBox="1"/>
          <p:nvPr/>
        </p:nvSpPr>
        <p:spPr>
          <a:xfrm>
            <a:off x="685800" y="841248"/>
            <a:ext cx="8872478" cy="731520"/>
          </a:xfrm>
          <a:prstGeom prst="rect">
            <a:avLst/>
          </a:prstGeom>
          <a:noFill/>
        </p:spPr>
        <p:txBody>
          <a:bodyPr wrap="square" anchor="t" lIns="0" rIns="0" tIns="0" bIns="0">
            <a:spAutoFit/>
          </a:bodyPr>
          <a:lstStyle/>
          <a:p>
            <a:pPr algn="l">
              <a:lnSpc>
                <a:spcPct val="102000"/>
              </a:lnSpc>
            </a:pPr>
            <a:r>
              <a:rPr sz="3000" b="1">
                <a:solidFill>
                  <a:srgbClr val="131A20"/>
                </a:solidFill>
                <a:latin typeface="Helvetica Neue"/>
              </a:rPr>
              <a:t>Why "chat with your PDF" isn't enough</a:t>
            </a:r>
          </a:p>
        </p:txBody>
      </p:sp>
      <p:sp>
        <p:nvSpPr>
          <p:cNvPr id="5" name="TextBox 4"/>
          <p:cNvSpPr txBox="1"/>
          <p:nvPr/>
        </p:nvSpPr>
        <p:spPr>
          <a:xfrm>
            <a:off x="685800" y="1664208"/>
            <a:ext cx="5074920" cy="18288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WHERE THE BASELINE BREAKS</a:t>
            </a:r>
          </a:p>
        </p:txBody>
      </p:sp>
      <p:sp>
        <p:nvSpPr>
          <p:cNvPr id="6" name="TextBox 5"/>
          <p:cNvSpPr txBox="1"/>
          <p:nvPr/>
        </p:nvSpPr>
        <p:spPr>
          <a:xfrm>
            <a:off x="6217920" y="1664208"/>
            <a:ext cx="5074920" cy="182880"/>
          </a:xfrm>
          <a:prstGeom prst="rect">
            <a:avLst/>
          </a:prstGeom>
          <a:noFill/>
        </p:spPr>
        <p:txBody>
          <a:bodyPr wrap="square" anchor="t" lIns="0" rIns="0" tIns="0" bIns="0">
            <a:spAutoFit/>
          </a:bodyPr>
          <a:lstStyle/>
          <a:p>
            <a:pPr algn="l">
              <a:lnSpc>
                <a:spcPct val="100000"/>
              </a:lnSpc>
            </a:pPr>
            <a:r>
              <a:rPr sz="850" b="0">
                <a:solidFill>
                  <a:srgbClr val="00836E"/>
                </a:solidFill>
                <a:latin typeface="Menlo"/>
              </a:rPr>
              <a:t>WHAT THIS DOES INSTEAD</a:t>
            </a:r>
          </a:p>
        </p:txBody>
      </p:sp>
      <p:cxnSp>
        <p:nvCxnSpPr>
          <p:cNvPr id="7" name="Connector 6"/>
          <p:cNvCxnSpPr/>
          <p:nvPr/>
        </p:nvCxnSpPr>
        <p:spPr>
          <a:xfrm>
            <a:off x="685800" y="1920240"/>
            <a:ext cx="10820095" cy="0"/>
          </a:xfrm>
          <a:prstGeom prst="line">
            <a:avLst/>
          </a:prstGeom>
          <a:ln w="9525">
            <a:solidFill>
              <a:srgbClr val="D2DAE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2194560"/>
            <a:ext cx="5074920" cy="822960"/>
          </a:xfrm>
          <a:prstGeom prst="rect">
            <a:avLst/>
          </a:prstGeom>
          <a:noFill/>
        </p:spPr>
        <p:txBody>
          <a:bodyPr wrap="square" anchor="t" lIns="0" rIns="0" tIns="0" bIns="0">
            <a:spAutoFit/>
          </a:bodyPr>
          <a:lstStyle/>
          <a:p>
            <a:pPr algn="l">
              <a:lnSpc>
                <a:spcPct val="142000"/>
              </a:lnSpc>
            </a:pPr>
            <a:r>
              <a:rPr sz="1150" b="1">
                <a:solidFill>
                  <a:srgbClr val="131A20"/>
                </a:solidFill>
                <a:latin typeface="Helvetica Neue"/>
              </a:rPr>
              <a:t>One retrieval pass.</a:t>
            </a:r>
            <a:r>
              <a:rPr sz="1150" b="0">
                <a:solidFill>
                  <a:srgbClr val="56636E"/>
                </a:solidFill>
                <a:latin typeface="Helvetica Neue"/>
              </a:rPr>
              <a:t> Pure vector search paraphrases well but blurs exact terms — a form code, a filename, a policy named verbatim.</a:t>
            </a:r>
          </a:p>
        </p:txBody>
      </p:sp>
      <p:sp>
        <p:nvSpPr>
          <p:cNvPr id="9" name="TextBox 8"/>
          <p:cNvSpPr txBox="1"/>
          <p:nvPr/>
        </p:nvSpPr>
        <p:spPr>
          <a:xfrm>
            <a:off x="6217920" y="2194560"/>
            <a:ext cx="5074920" cy="822960"/>
          </a:xfrm>
          <a:prstGeom prst="rect">
            <a:avLst/>
          </a:prstGeom>
          <a:noFill/>
        </p:spPr>
        <p:txBody>
          <a:bodyPr wrap="square" anchor="t" lIns="0" rIns="0" tIns="0" bIns="0">
            <a:spAutoFit/>
          </a:bodyPr>
          <a:lstStyle/>
          <a:p>
            <a:pPr algn="l">
              <a:lnSpc>
                <a:spcPct val="142000"/>
              </a:lnSpc>
            </a:pPr>
            <a:r>
              <a:rPr sz="1150" b="1">
                <a:solidFill>
                  <a:srgbClr val="00836E"/>
                </a:solidFill>
                <a:latin typeface="Helvetica Neue"/>
              </a:rPr>
              <a:t>Two passes, fused.</a:t>
            </a:r>
            <a:r>
              <a:rPr sz="1150" b="0">
                <a:solidFill>
                  <a:srgbClr val="56636E"/>
                </a:solidFill>
                <a:latin typeface="Helvetica Neue"/>
              </a:rPr>
              <a:t> Vector and BM25 run on every query, merge by Reciprocal Rank Fusion, then get reranked by a local cross-encoder.</a:t>
            </a:r>
          </a:p>
        </p:txBody>
      </p:sp>
      <p:cxnSp>
        <p:nvCxnSpPr>
          <p:cNvPr id="10" name="Connector 9"/>
          <p:cNvCxnSpPr/>
          <p:nvPr/>
        </p:nvCxnSpPr>
        <p:spPr>
          <a:xfrm>
            <a:off x="685800" y="3163823"/>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291839"/>
            <a:ext cx="5074920" cy="822960"/>
          </a:xfrm>
          <a:prstGeom prst="rect">
            <a:avLst/>
          </a:prstGeom>
          <a:noFill/>
        </p:spPr>
        <p:txBody>
          <a:bodyPr wrap="square" anchor="t" lIns="0" rIns="0" tIns="0" bIns="0">
            <a:spAutoFit/>
          </a:bodyPr>
          <a:lstStyle/>
          <a:p>
            <a:pPr algn="l">
              <a:lnSpc>
                <a:spcPct val="142000"/>
              </a:lnSpc>
            </a:pPr>
            <a:r>
              <a:rPr sz="1150" b="1">
                <a:solidFill>
                  <a:srgbClr val="131A20"/>
                </a:solidFill>
                <a:latin typeface="Helvetica Neue"/>
              </a:rPr>
              <a:t>No memory.</a:t>
            </a:r>
            <a:r>
              <a:rPr sz="1150" b="0">
                <a:solidFill>
                  <a:srgbClr val="56636E"/>
                </a:solidFill>
                <a:latin typeface="Helvetica Neue"/>
              </a:rPr>
              <a:t> "What about carry-forward?" retrieves noise, because nothing in that string says leave.</a:t>
            </a:r>
          </a:p>
        </p:txBody>
      </p:sp>
      <p:sp>
        <p:nvSpPr>
          <p:cNvPr id="12" name="TextBox 11"/>
          <p:cNvSpPr txBox="1"/>
          <p:nvPr/>
        </p:nvSpPr>
        <p:spPr>
          <a:xfrm>
            <a:off x="6217920" y="3291839"/>
            <a:ext cx="5074920" cy="822960"/>
          </a:xfrm>
          <a:prstGeom prst="rect">
            <a:avLst/>
          </a:prstGeom>
          <a:noFill/>
        </p:spPr>
        <p:txBody>
          <a:bodyPr wrap="square" anchor="t" lIns="0" rIns="0" tIns="0" bIns="0">
            <a:spAutoFit/>
          </a:bodyPr>
          <a:lstStyle/>
          <a:p>
            <a:pPr algn="l">
              <a:lnSpc>
                <a:spcPct val="142000"/>
              </a:lnSpc>
            </a:pPr>
            <a:r>
              <a:rPr sz="1150" b="1">
                <a:solidFill>
                  <a:srgbClr val="00836E"/>
                </a:solidFill>
                <a:latin typeface="Helvetica Neue"/>
              </a:rPr>
              <a:t>Condense, then retrieve.</a:t>
            </a:r>
            <a:r>
              <a:rPr sz="1150" b="0">
                <a:solidFill>
                  <a:srgbClr val="56636E"/>
                </a:solidFill>
                <a:latin typeface="Helvetica Neue"/>
              </a:rPr>
              <a:t> Each follow-up is rewritten into a standalone query against recent turns before retrieval runs.</a:t>
            </a:r>
          </a:p>
        </p:txBody>
      </p:sp>
      <p:cxnSp>
        <p:nvCxnSpPr>
          <p:cNvPr id="13" name="Connector 12"/>
          <p:cNvCxnSpPr/>
          <p:nvPr/>
        </p:nvCxnSpPr>
        <p:spPr>
          <a:xfrm>
            <a:off x="685800" y="4261104"/>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4389120"/>
            <a:ext cx="5074920" cy="822960"/>
          </a:xfrm>
          <a:prstGeom prst="rect">
            <a:avLst/>
          </a:prstGeom>
          <a:noFill/>
        </p:spPr>
        <p:txBody>
          <a:bodyPr wrap="square" anchor="t" lIns="0" rIns="0" tIns="0" bIns="0">
            <a:spAutoFit/>
          </a:bodyPr>
          <a:lstStyle/>
          <a:p>
            <a:pPr algn="l">
              <a:lnSpc>
                <a:spcPct val="142000"/>
              </a:lnSpc>
            </a:pPr>
            <a:r>
              <a:rPr sz="1150" b="1">
                <a:solidFill>
                  <a:srgbClr val="131A20"/>
                </a:solidFill>
                <a:latin typeface="Helvetica Neue"/>
              </a:rPr>
              <a:t>Fills gaps by inventing.</a:t>
            </a:r>
            <a:r>
              <a:rPr sz="1150" b="0">
                <a:solidFill>
                  <a:srgbClr val="56636E"/>
                </a:solidFill>
                <a:latin typeface="Helvetica Neue"/>
              </a:rPr>
              <a:t> Asked about a sabbatical policy that doesn't exist, it writes one — and names sources it never read.</a:t>
            </a:r>
          </a:p>
        </p:txBody>
      </p:sp>
      <p:sp>
        <p:nvSpPr>
          <p:cNvPr id="15" name="TextBox 14"/>
          <p:cNvSpPr txBox="1"/>
          <p:nvPr/>
        </p:nvSpPr>
        <p:spPr>
          <a:xfrm>
            <a:off x="6217920" y="4389120"/>
            <a:ext cx="5074920" cy="822960"/>
          </a:xfrm>
          <a:prstGeom prst="rect">
            <a:avLst/>
          </a:prstGeom>
          <a:noFill/>
        </p:spPr>
        <p:txBody>
          <a:bodyPr wrap="square" anchor="t" lIns="0" rIns="0" tIns="0" bIns="0">
            <a:spAutoFit/>
          </a:bodyPr>
          <a:lstStyle/>
          <a:p>
            <a:pPr algn="l">
              <a:lnSpc>
                <a:spcPct val="142000"/>
              </a:lnSpc>
            </a:pPr>
            <a:r>
              <a:rPr sz="1150" b="1">
                <a:solidFill>
                  <a:srgbClr val="00836E"/>
                </a:solidFill>
                <a:latin typeface="Helvetica Neue"/>
              </a:rPr>
              <a:t>Refuses, and cites what it read.</a:t>
            </a:r>
            <a:r>
              <a:rPr sz="1150" b="0">
                <a:solidFill>
                  <a:srgbClr val="56636E"/>
                </a:solidFill>
                <a:latin typeface="Helvetica Neue"/>
              </a:rPr>
              <a:t> A two-stage guardrail declines on weak context; citations come from the chunks in the prompt.</a:t>
            </a:r>
          </a:p>
        </p:txBody>
      </p:sp>
      <p:cxnSp>
        <p:nvCxnSpPr>
          <p:cNvPr id="16" name="Connector 15"/>
          <p:cNvCxnSpPr/>
          <p:nvPr/>
        </p:nvCxnSpPr>
        <p:spPr>
          <a:xfrm>
            <a:off x="685800" y="5358384"/>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5596128"/>
            <a:ext cx="10820095" cy="640080"/>
          </a:xfrm>
          <a:prstGeom prst="rect">
            <a:avLst/>
          </a:prstGeom>
          <a:noFill/>
        </p:spPr>
        <p:txBody>
          <a:bodyPr wrap="square" anchor="t" lIns="0" rIns="0" tIns="0" bIns="0">
            <a:spAutoFit/>
          </a:bodyPr>
          <a:lstStyle/>
          <a:p>
            <a:pPr algn="l">
              <a:lnSpc>
                <a:spcPct val="170000"/>
              </a:lnSpc>
            </a:pPr>
            <a:r>
              <a:rPr sz="850" b="0">
                <a:solidFill>
                  <a:srgbClr val="84919C"/>
                </a:solidFill>
                <a:latin typeface="Menlo"/>
              </a:rPr>
              <a:t>LLM </a:t>
            </a:r>
            <a:r>
              <a:rPr sz="850" b="0">
                <a:solidFill>
                  <a:srgbClr val="56636E"/>
                </a:solidFill>
                <a:latin typeface="Menlo"/>
              </a:rPr>
              <a:t>gpt-4o-mini</a:t>
            </a:r>
            <a:r>
              <a:rPr sz="850" b="0">
                <a:solidFill>
                  <a:srgbClr val="56636E"/>
                </a:solidFill>
                <a:latin typeface="Menlo"/>
              </a:rPr>
              <a:t>    </a:t>
            </a:r>
            <a:r>
              <a:rPr sz="850" b="0">
                <a:solidFill>
                  <a:srgbClr val="84919C"/>
                </a:solidFill>
                <a:latin typeface="Menlo"/>
              </a:rPr>
              <a:t>Embeddings </a:t>
            </a:r>
            <a:r>
              <a:rPr sz="850" b="0">
                <a:solidFill>
                  <a:srgbClr val="56636E"/>
                </a:solidFill>
                <a:latin typeface="Menlo"/>
              </a:rPr>
              <a:t>text-embedding-3-small</a:t>
            </a:r>
            <a:r>
              <a:rPr sz="850" b="0">
                <a:solidFill>
                  <a:srgbClr val="56636E"/>
                </a:solidFill>
                <a:latin typeface="Menlo"/>
              </a:rPr>
              <a:t>    </a:t>
            </a:r>
            <a:r>
              <a:rPr sz="850" b="0">
                <a:solidFill>
                  <a:srgbClr val="84919C"/>
                </a:solidFill>
                <a:latin typeface="Menlo"/>
              </a:rPr>
              <a:t>Vector </a:t>
            </a:r>
            <a:r>
              <a:rPr sz="850" b="0">
                <a:solidFill>
                  <a:srgbClr val="56636E"/>
                </a:solidFill>
                <a:latin typeface="Menlo"/>
              </a:rPr>
              <a:t>ChromaDB</a:t>
            </a:r>
            <a:r>
              <a:rPr sz="850" b="0">
                <a:solidFill>
                  <a:srgbClr val="56636E"/>
                </a:solidFill>
                <a:latin typeface="Menlo"/>
              </a:rPr>
              <a:t>    </a:t>
            </a:r>
            <a:r>
              <a:rPr sz="850" b="0">
                <a:solidFill>
                  <a:srgbClr val="84919C"/>
                </a:solidFill>
                <a:latin typeface="Menlo"/>
              </a:rPr>
              <a:t>Keyword </a:t>
            </a:r>
            <a:r>
              <a:rPr sz="850" b="0">
                <a:solidFill>
                  <a:srgbClr val="56636E"/>
                </a:solidFill>
                <a:latin typeface="Menlo"/>
              </a:rPr>
              <a:t>rank_bm25</a:t>
            </a:r>
            <a:r>
              <a:rPr sz="850" b="0">
                <a:solidFill>
                  <a:srgbClr val="56636E"/>
                </a:solidFill>
                <a:latin typeface="Menlo"/>
              </a:rPr>
              <a:t>    </a:t>
            </a:r>
            <a:r>
              <a:rPr sz="850" b="0">
                <a:solidFill>
                  <a:srgbClr val="84919C"/>
                </a:solidFill>
                <a:latin typeface="Menlo"/>
              </a:rPr>
              <a:t>Reranker </a:t>
            </a:r>
            <a:r>
              <a:rPr sz="850" b="0">
                <a:solidFill>
                  <a:srgbClr val="56636E"/>
                </a:solidFill>
                <a:latin typeface="Menlo"/>
              </a:rPr>
              <a:t>ms-marco-MiniLM-L-6-v2</a:t>
            </a:r>
            <a:r>
              <a:rPr sz="850" b="0">
                <a:solidFill>
                  <a:srgbClr val="56636E"/>
                </a:solidFill>
                <a:latin typeface="Menlo"/>
              </a:rPr>
              <a:t>    </a:t>
            </a:r>
            <a:r>
              <a:rPr sz="850" b="0">
                <a:solidFill>
                  <a:srgbClr val="84919C"/>
                </a:solidFill>
                <a:latin typeface="Menlo"/>
              </a:rPr>
              <a:t>Memory </a:t>
            </a:r>
            <a:r>
              <a:rPr sz="850" b="0">
                <a:solidFill>
                  <a:srgbClr val="56636E"/>
                </a:solidFill>
                <a:latin typeface="Menlo"/>
              </a:rPr>
              <a:t>LangChain</a:t>
            </a:r>
            <a:r>
              <a:rPr sz="850" b="0">
                <a:solidFill>
                  <a:srgbClr val="56636E"/>
                </a:solidFill>
                <a:latin typeface="Menlo"/>
              </a:rPr>
              <a:t>    </a:t>
            </a:r>
            <a:r>
              <a:rPr sz="850" b="0">
                <a:solidFill>
                  <a:srgbClr val="84919C"/>
                </a:solidFill>
                <a:latin typeface="Menlo"/>
              </a:rPr>
              <a:t>UI </a:t>
            </a:r>
            <a:r>
              <a:rPr sz="850" b="0">
                <a:solidFill>
                  <a:srgbClr val="56636E"/>
                </a:solidFill>
                <a:latin typeface="Menlo"/>
              </a:rPr>
              <a:t>Streamlit</a:t>
            </a:r>
            <a:r>
              <a:rPr sz="850" b="0">
                <a:solidFill>
                  <a:srgbClr val="56636E"/>
                </a:solidFill>
                <a:latin typeface="Menlo"/>
              </a:rPr>
              <a:t>    </a:t>
            </a:r>
            <a:r>
              <a:rPr sz="850" b="0">
                <a:solidFill>
                  <a:srgbClr val="84919C"/>
                </a:solidFill>
                <a:latin typeface="Menlo"/>
              </a:rPr>
              <a:t>Packaging </a:t>
            </a:r>
            <a:r>
              <a:rPr sz="850" b="0">
                <a:solidFill>
                  <a:srgbClr val="56636E"/>
                </a:solidFill>
                <a:latin typeface="Menlo"/>
              </a:rPr>
              <a:t>uv</a:t>
            </a:r>
          </a:p>
        </p:txBody>
      </p:sp>
      <p:cxnSp>
        <p:nvCxnSpPr>
          <p:cNvPr id="18" name="Connector 17"/>
          <p:cNvCxnSpPr/>
          <p:nvPr/>
        </p:nvCxnSpPr>
        <p:spPr>
          <a:xfrm>
            <a:off x="685800" y="6327648"/>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6437376"/>
            <a:ext cx="6400800" cy="201168"/>
          </a:xfrm>
          <a:prstGeom prst="rect">
            <a:avLst/>
          </a:prstGeom>
          <a:noFill/>
        </p:spPr>
        <p:txBody>
          <a:bodyPr wrap="square" anchor="t" lIns="0" rIns="0" tIns="0" bIns="0">
            <a:spAutoFit/>
          </a:bodyPr>
          <a:lstStyle/>
          <a:p>
            <a:pPr algn="l">
              <a:lnSpc>
                <a:spcPct val="100000"/>
              </a:lnSpc>
            </a:pPr>
            <a:r>
              <a:rPr sz="800" b="0">
                <a:solidFill>
                  <a:srgbClr val="84919C"/>
                </a:solidFill>
                <a:latin typeface="Menlo"/>
              </a:rPr>
              <a:t>Employee Knowledge Assistant  ·  IIT Patna USDC GenAI Capstone  ·  The gap</a:t>
            </a:r>
          </a:p>
        </p:txBody>
      </p:sp>
      <p:sp>
        <p:nvSpPr>
          <p:cNvPr id="20" name="TextBox 19"/>
          <p:cNvSpPr txBox="1"/>
          <p:nvPr/>
        </p:nvSpPr>
        <p:spPr>
          <a:xfrm>
            <a:off x="8579815" y="6437376"/>
            <a:ext cx="2926080" cy="201168"/>
          </a:xfrm>
          <a:prstGeom prst="rect">
            <a:avLst/>
          </a:prstGeom>
          <a:noFill/>
        </p:spPr>
        <p:txBody>
          <a:bodyPr wrap="none" lIns="0" rIns="0" tIns="0" bIns="0">
            <a:spAutoFit/>
          </a:bodyPr>
          <a:lstStyle/>
          <a:p>
            <a:pPr algn="r">
              <a:lnSpc>
                <a:spcPct val="100000"/>
              </a:lnSpc>
            </a:pPr>
            <a:r>
              <a:rPr sz="800" b="0">
                <a:solidFill>
                  <a:srgbClr val="84919C"/>
                </a:solidFill>
                <a:latin typeface="Menlo"/>
                <a:hlinkClick r:id="rId2" action="ppaction://hlinksldjump"/>
              </a:rPr>
              <a:t>01</a:t>
            </a:r>
            <a:r>
              <a:rPr sz="800">
                <a:solidFill>
                  <a:srgbClr val="D2DAE0"/>
                </a:solidFill>
                <a:latin typeface="Menlo"/>
              </a:rPr>
              <a:t>   </a:t>
            </a:r>
            <a:r>
              <a:rPr sz="800" b="1">
                <a:solidFill>
                  <a:srgbClr val="00836E"/>
                </a:solidFill>
                <a:latin typeface="Menlo"/>
              </a:rPr>
              <a:t>02</a:t>
            </a:r>
            <a:r>
              <a:rPr sz="800">
                <a:solidFill>
                  <a:srgbClr val="D2DAE0"/>
                </a:solidFill>
                <a:latin typeface="Menlo"/>
              </a:rPr>
              <a:t>   </a:t>
            </a:r>
            <a:r>
              <a:rPr sz="800" b="0">
                <a:solidFill>
                  <a:srgbClr val="84919C"/>
                </a:solidFill>
                <a:latin typeface="Menlo"/>
                <a:hlinkClick r:id="rId3" action="ppaction://hlinksldjump"/>
              </a:rPr>
              <a:t>03</a:t>
            </a:r>
            <a:r>
              <a:rPr sz="800">
                <a:solidFill>
                  <a:srgbClr val="D2DAE0"/>
                </a:solidFill>
                <a:latin typeface="Menlo"/>
              </a:rPr>
              <a:t>   </a:t>
            </a:r>
            <a:r>
              <a:rPr sz="800" b="0">
                <a:solidFill>
                  <a:srgbClr val="84919C"/>
                </a:solidFill>
                <a:latin typeface="Menlo"/>
                <a:hlinkClick r:id="rId4" action="ppaction://hlinksldjump"/>
              </a:rPr>
              <a:t>04</a:t>
            </a:r>
            <a:r>
              <a:rPr sz="800">
                <a:solidFill>
                  <a:srgbClr val="D2DAE0"/>
                </a:solidFill>
                <a:latin typeface="Menlo"/>
              </a:rPr>
              <a:t>   </a:t>
            </a:r>
            <a:r>
              <a:rPr sz="800" b="0">
                <a:solidFill>
                  <a:srgbClr val="84919C"/>
                </a:solidFill>
                <a:latin typeface="Menlo"/>
                <a:hlinkClick r:id="rId5" action="ppaction://hlinksldjump"/>
              </a:rPr>
              <a:t>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566928"/>
            <a:ext cx="10820095" cy="22860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QUERY PATH · ONE USER TURN</a:t>
            </a:r>
          </a:p>
        </p:txBody>
      </p:sp>
      <p:sp>
        <p:nvSpPr>
          <p:cNvPr id="4" name="TextBox 3"/>
          <p:cNvSpPr txBox="1"/>
          <p:nvPr/>
        </p:nvSpPr>
        <p:spPr>
          <a:xfrm>
            <a:off x="685800" y="841248"/>
            <a:ext cx="8872478" cy="731520"/>
          </a:xfrm>
          <a:prstGeom prst="rect">
            <a:avLst/>
          </a:prstGeom>
          <a:noFill/>
        </p:spPr>
        <p:txBody>
          <a:bodyPr wrap="square" anchor="t" lIns="0" rIns="0" tIns="0" bIns="0">
            <a:spAutoFit/>
          </a:bodyPr>
          <a:lstStyle/>
          <a:p>
            <a:pPr algn="l">
              <a:lnSpc>
                <a:spcPct val="102000"/>
              </a:lnSpc>
            </a:pPr>
            <a:r>
              <a:rPr sz="3000" b="1">
                <a:solidFill>
                  <a:srgbClr val="131A20"/>
                </a:solidFill>
                <a:latin typeface="Helvetica Neue"/>
              </a:rPr>
              <a:t>Six stages between question and answer</a:t>
            </a:r>
          </a:p>
        </p:txBody>
      </p:sp>
      <p:sp>
        <p:nvSpPr>
          <p:cNvPr id="5" name="TextBox 4"/>
          <p:cNvSpPr txBox="1"/>
          <p:nvPr/>
        </p:nvSpPr>
        <p:spPr>
          <a:xfrm>
            <a:off x="6961455" y="1170432"/>
            <a:ext cx="4544439" cy="274320"/>
          </a:xfrm>
          <a:prstGeom prst="rect">
            <a:avLst/>
          </a:prstGeom>
          <a:noFill/>
        </p:spPr>
        <p:txBody>
          <a:bodyPr wrap="square" anchor="t" lIns="0" rIns="0" tIns="0" bIns="0">
            <a:spAutoFit/>
          </a:bodyPr>
          <a:lstStyle/>
          <a:p>
            <a:pPr algn="r">
              <a:lnSpc>
                <a:spcPct val="100000"/>
              </a:lnSpc>
            </a:pPr>
            <a:r>
              <a:rPr sz="900" b="0">
                <a:solidFill>
                  <a:srgbClr val="84919C"/>
                </a:solidFill>
                <a:latin typeface="Menlo"/>
              </a:rPr>
              <a:t>gpt-4o-mini  ·  1,519 ms median turn</a:t>
            </a:r>
          </a:p>
        </p:txBody>
      </p:sp>
      <p:sp>
        <p:nvSpPr>
          <p:cNvPr id="6" name="Rectangle 5"/>
          <p:cNvSpPr/>
          <p:nvPr/>
        </p:nvSpPr>
        <p:spPr>
          <a:xfrm>
            <a:off x="685800" y="1645920"/>
            <a:ext cx="1828800" cy="1005840"/>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13816" y="1792224"/>
            <a:ext cx="1572768" cy="146304"/>
          </a:xfrm>
          <a:prstGeom prst="rect">
            <a:avLst/>
          </a:prstGeom>
          <a:noFill/>
        </p:spPr>
        <p:txBody>
          <a:bodyPr wrap="square" anchor="t" lIns="0" rIns="0" tIns="0" bIns="0">
            <a:spAutoFit/>
          </a:bodyPr>
          <a:lstStyle/>
          <a:p>
            <a:pPr algn="l">
              <a:lnSpc>
                <a:spcPct val="100000"/>
              </a:lnSpc>
            </a:pPr>
            <a:r>
              <a:rPr sz="750" b="0">
                <a:solidFill>
                  <a:srgbClr val="84919C"/>
                </a:solidFill>
                <a:latin typeface="Menlo"/>
              </a:rPr>
              <a:t>01</a:t>
            </a:r>
          </a:p>
        </p:txBody>
      </p:sp>
      <p:sp>
        <p:nvSpPr>
          <p:cNvPr id="8" name="TextBox 7"/>
          <p:cNvSpPr txBox="1"/>
          <p:nvPr/>
        </p:nvSpPr>
        <p:spPr>
          <a:xfrm>
            <a:off x="813816" y="2011680"/>
            <a:ext cx="1572768" cy="457200"/>
          </a:xfrm>
          <a:prstGeom prst="rect">
            <a:avLst/>
          </a:prstGeom>
          <a:noFill/>
        </p:spPr>
        <p:txBody>
          <a:bodyPr wrap="square" anchor="t" lIns="0" rIns="0" tIns="0" bIns="0">
            <a:spAutoFit/>
          </a:bodyPr>
          <a:lstStyle/>
          <a:p>
            <a:pPr algn="l">
              <a:lnSpc>
                <a:spcPct val="110000"/>
              </a:lnSpc>
            </a:pPr>
            <a:r>
              <a:rPr sz="1050" b="1">
                <a:solidFill>
                  <a:srgbClr val="131A20"/>
                </a:solidFill>
                <a:latin typeface="Helvetica Neue"/>
              </a:rPr>
              <a:t>Condense</a:t>
            </a:r>
          </a:p>
        </p:txBody>
      </p:sp>
      <p:sp>
        <p:nvSpPr>
          <p:cNvPr id="9" name="TextBox 8"/>
          <p:cNvSpPr txBox="1"/>
          <p:nvPr/>
        </p:nvSpPr>
        <p:spPr>
          <a:xfrm>
            <a:off x="2532888" y="2029968"/>
            <a:ext cx="348157" cy="228600"/>
          </a:xfrm>
          <a:prstGeom prst="rect">
            <a:avLst/>
          </a:prstGeom>
          <a:noFill/>
        </p:spPr>
        <p:txBody>
          <a:bodyPr wrap="square" anchor="t" lIns="0" rIns="0" tIns="0" bIns="0">
            <a:spAutoFit/>
          </a:bodyPr>
          <a:lstStyle/>
          <a:p>
            <a:pPr algn="ctr">
              <a:lnSpc>
                <a:spcPct val="100000"/>
              </a:lnSpc>
            </a:pPr>
            <a:r>
              <a:rPr sz="1200" b="0">
                <a:solidFill>
                  <a:srgbClr val="84919C"/>
                </a:solidFill>
                <a:latin typeface="Helvetica Neue"/>
              </a:rPr>
              <a:t>→</a:t>
            </a:r>
          </a:p>
        </p:txBody>
      </p:sp>
      <p:sp>
        <p:nvSpPr>
          <p:cNvPr id="10" name="Rectangle 9"/>
          <p:cNvSpPr/>
          <p:nvPr/>
        </p:nvSpPr>
        <p:spPr>
          <a:xfrm>
            <a:off x="2899333" y="1645920"/>
            <a:ext cx="2103120" cy="461772"/>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027349" y="1728216"/>
            <a:ext cx="1847087" cy="146304"/>
          </a:xfrm>
          <a:prstGeom prst="rect">
            <a:avLst/>
          </a:prstGeom>
          <a:noFill/>
        </p:spPr>
        <p:txBody>
          <a:bodyPr wrap="square" anchor="t" lIns="0" rIns="0" tIns="0" bIns="0">
            <a:spAutoFit/>
          </a:bodyPr>
          <a:lstStyle/>
          <a:p>
            <a:pPr algn="l">
              <a:lnSpc>
                <a:spcPct val="100000"/>
              </a:lnSpc>
            </a:pPr>
            <a:r>
              <a:rPr sz="750" b="0">
                <a:solidFill>
                  <a:srgbClr val="4B50CE"/>
                </a:solidFill>
                <a:latin typeface="Menlo"/>
              </a:rPr>
              <a:t>02a</a:t>
            </a:r>
          </a:p>
        </p:txBody>
      </p:sp>
      <p:sp>
        <p:nvSpPr>
          <p:cNvPr id="12" name="TextBox 11"/>
          <p:cNvSpPr txBox="1"/>
          <p:nvPr/>
        </p:nvSpPr>
        <p:spPr>
          <a:xfrm>
            <a:off x="3027349" y="1883664"/>
            <a:ext cx="1847087" cy="182880"/>
          </a:xfrm>
          <a:prstGeom prst="rect">
            <a:avLst/>
          </a:prstGeom>
          <a:noFill/>
        </p:spPr>
        <p:txBody>
          <a:bodyPr wrap="square" anchor="t" lIns="0" rIns="0" tIns="0" bIns="0">
            <a:spAutoFit/>
          </a:bodyPr>
          <a:lstStyle/>
          <a:p>
            <a:pPr algn="l">
              <a:lnSpc>
                <a:spcPct val="100000"/>
              </a:lnSpc>
            </a:pPr>
            <a:r>
              <a:rPr sz="1050" b="1">
                <a:solidFill>
                  <a:srgbClr val="131A20"/>
                </a:solidFill>
                <a:latin typeface="Helvetica Neue"/>
              </a:rPr>
              <a:t>Vector search</a:t>
            </a:r>
          </a:p>
        </p:txBody>
      </p:sp>
      <p:sp>
        <p:nvSpPr>
          <p:cNvPr id="13" name="Rectangle 12"/>
          <p:cNvSpPr/>
          <p:nvPr/>
        </p:nvSpPr>
        <p:spPr>
          <a:xfrm>
            <a:off x="2899333" y="2180844"/>
            <a:ext cx="2103120" cy="461772"/>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27349" y="2263139"/>
            <a:ext cx="1847087" cy="146304"/>
          </a:xfrm>
          <a:prstGeom prst="rect">
            <a:avLst/>
          </a:prstGeom>
          <a:noFill/>
        </p:spPr>
        <p:txBody>
          <a:bodyPr wrap="square" anchor="t" lIns="0" rIns="0" tIns="0" bIns="0">
            <a:spAutoFit/>
          </a:bodyPr>
          <a:lstStyle/>
          <a:p>
            <a:pPr algn="l">
              <a:lnSpc>
                <a:spcPct val="100000"/>
              </a:lnSpc>
            </a:pPr>
            <a:r>
              <a:rPr sz="750" b="0">
                <a:solidFill>
                  <a:srgbClr val="B96D12"/>
                </a:solidFill>
                <a:latin typeface="Menlo"/>
              </a:rPr>
              <a:t>02b</a:t>
            </a:r>
          </a:p>
        </p:txBody>
      </p:sp>
      <p:sp>
        <p:nvSpPr>
          <p:cNvPr id="15" name="TextBox 14"/>
          <p:cNvSpPr txBox="1"/>
          <p:nvPr/>
        </p:nvSpPr>
        <p:spPr>
          <a:xfrm>
            <a:off x="3027349" y="2418587"/>
            <a:ext cx="1847087" cy="182880"/>
          </a:xfrm>
          <a:prstGeom prst="rect">
            <a:avLst/>
          </a:prstGeom>
          <a:noFill/>
        </p:spPr>
        <p:txBody>
          <a:bodyPr wrap="square" anchor="t" lIns="0" rIns="0" tIns="0" bIns="0">
            <a:spAutoFit/>
          </a:bodyPr>
          <a:lstStyle/>
          <a:p>
            <a:pPr algn="l">
              <a:lnSpc>
                <a:spcPct val="100000"/>
              </a:lnSpc>
            </a:pPr>
            <a:r>
              <a:rPr sz="1050" b="1">
                <a:solidFill>
                  <a:srgbClr val="131A20"/>
                </a:solidFill>
                <a:latin typeface="Helvetica Neue"/>
              </a:rPr>
              <a:t>BM25 search</a:t>
            </a:r>
          </a:p>
        </p:txBody>
      </p:sp>
      <p:sp>
        <p:nvSpPr>
          <p:cNvPr id="16" name="TextBox 15"/>
          <p:cNvSpPr txBox="1"/>
          <p:nvPr/>
        </p:nvSpPr>
        <p:spPr>
          <a:xfrm>
            <a:off x="5020741" y="2029968"/>
            <a:ext cx="348157" cy="228600"/>
          </a:xfrm>
          <a:prstGeom prst="rect">
            <a:avLst/>
          </a:prstGeom>
          <a:noFill/>
        </p:spPr>
        <p:txBody>
          <a:bodyPr wrap="square" anchor="t" lIns="0" rIns="0" tIns="0" bIns="0">
            <a:spAutoFit/>
          </a:bodyPr>
          <a:lstStyle/>
          <a:p>
            <a:pPr algn="ctr">
              <a:lnSpc>
                <a:spcPct val="100000"/>
              </a:lnSpc>
            </a:pPr>
            <a:r>
              <a:rPr sz="1200" b="0">
                <a:solidFill>
                  <a:srgbClr val="84919C"/>
                </a:solidFill>
                <a:latin typeface="Helvetica Neue"/>
              </a:rPr>
              <a:t>→</a:t>
            </a:r>
          </a:p>
        </p:txBody>
      </p:sp>
      <p:sp>
        <p:nvSpPr>
          <p:cNvPr id="17" name="Rectangle 16"/>
          <p:cNvSpPr/>
          <p:nvPr/>
        </p:nvSpPr>
        <p:spPr>
          <a:xfrm>
            <a:off x="5387187" y="1645920"/>
            <a:ext cx="1691640" cy="1005840"/>
          </a:xfrm>
          <a:prstGeom prst="rect">
            <a:avLst/>
          </a:prstGeom>
          <a:solidFill>
            <a:srgbClr val="E6F2EF"/>
          </a:solidFill>
          <a:ln w="9525">
            <a:solidFill>
              <a:srgbClr val="0083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515203" y="1792224"/>
            <a:ext cx="1435608" cy="146304"/>
          </a:xfrm>
          <a:prstGeom prst="rect">
            <a:avLst/>
          </a:prstGeom>
          <a:noFill/>
        </p:spPr>
        <p:txBody>
          <a:bodyPr wrap="square" anchor="t" lIns="0" rIns="0" tIns="0" bIns="0">
            <a:spAutoFit/>
          </a:bodyPr>
          <a:lstStyle/>
          <a:p>
            <a:pPr algn="l">
              <a:lnSpc>
                <a:spcPct val="100000"/>
              </a:lnSpc>
            </a:pPr>
            <a:r>
              <a:rPr sz="750" b="0">
                <a:solidFill>
                  <a:srgbClr val="00836E"/>
                </a:solidFill>
                <a:latin typeface="Menlo"/>
              </a:rPr>
              <a:t>03</a:t>
            </a:r>
          </a:p>
        </p:txBody>
      </p:sp>
      <p:sp>
        <p:nvSpPr>
          <p:cNvPr id="19" name="TextBox 18"/>
          <p:cNvSpPr txBox="1"/>
          <p:nvPr/>
        </p:nvSpPr>
        <p:spPr>
          <a:xfrm>
            <a:off x="5515203" y="2011680"/>
            <a:ext cx="1435608" cy="457200"/>
          </a:xfrm>
          <a:prstGeom prst="rect">
            <a:avLst/>
          </a:prstGeom>
          <a:noFill/>
        </p:spPr>
        <p:txBody>
          <a:bodyPr wrap="square" anchor="t" lIns="0" rIns="0" tIns="0" bIns="0">
            <a:spAutoFit/>
          </a:bodyPr>
          <a:lstStyle/>
          <a:p>
            <a:pPr algn="l">
              <a:lnSpc>
                <a:spcPct val="110000"/>
              </a:lnSpc>
            </a:pPr>
            <a:r>
              <a:rPr sz="1050" b="1">
                <a:solidFill>
                  <a:srgbClr val="131A20"/>
                </a:solidFill>
                <a:latin typeface="Helvetica Neue"/>
              </a:rPr>
              <a:t>Fuse — RRF</a:t>
            </a:r>
          </a:p>
        </p:txBody>
      </p:sp>
      <p:sp>
        <p:nvSpPr>
          <p:cNvPr id="20" name="TextBox 19"/>
          <p:cNvSpPr txBox="1"/>
          <p:nvPr/>
        </p:nvSpPr>
        <p:spPr>
          <a:xfrm>
            <a:off x="7097115" y="2029968"/>
            <a:ext cx="348157" cy="228600"/>
          </a:xfrm>
          <a:prstGeom prst="rect">
            <a:avLst/>
          </a:prstGeom>
          <a:noFill/>
        </p:spPr>
        <p:txBody>
          <a:bodyPr wrap="square" anchor="t" lIns="0" rIns="0" tIns="0" bIns="0">
            <a:spAutoFit/>
          </a:bodyPr>
          <a:lstStyle/>
          <a:p>
            <a:pPr algn="ctr">
              <a:lnSpc>
                <a:spcPct val="100000"/>
              </a:lnSpc>
            </a:pPr>
            <a:r>
              <a:rPr sz="1200" b="0">
                <a:solidFill>
                  <a:srgbClr val="84919C"/>
                </a:solidFill>
                <a:latin typeface="Helvetica Neue"/>
              </a:rPr>
              <a:t>→</a:t>
            </a:r>
          </a:p>
        </p:txBody>
      </p:sp>
      <p:sp>
        <p:nvSpPr>
          <p:cNvPr id="21" name="Rectangle 20"/>
          <p:cNvSpPr/>
          <p:nvPr/>
        </p:nvSpPr>
        <p:spPr>
          <a:xfrm>
            <a:off x="7463561" y="1645920"/>
            <a:ext cx="1691640" cy="1005840"/>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591577" y="1792224"/>
            <a:ext cx="1435608" cy="146304"/>
          </a:xfrm>
          <a:prstGeom prst="rect">
            <a:avLst/>
          </a:prstGeom>
          <a:noFill/>
        </p:spPr>
        <p:txBody>
          <a:bodyPr wrap="square" anchor="t" lIns="0" rIns="0" tIns="0" bIns="0">
            <a:spAutoFit/>
          </a:bodyPr>
          <a:lstStyle/>
          <a:p>
            <a:pPr algn="l">
              <a:lnSpc>
                <a:spcPct val="100000"/>
              </a:lnSpc>
            </a:pPr>
            <a:r>
              <a:rPr sz="750" b="0">
                <a:solidFill>
                  <a:srgbClr val="84919C"/>
                </a:solidFill>
                <a:latin typeface="Menlo"/>
              </a:rPr>
              <a:t>04</a:t>
            </a:r>
          </a:p>
        </p:txBody>
      </p:sp>
      <p:sp>
        <p:nvSpPr>
          <p:cNvPr id="23" name="TextBox 22"/>
          <p:cNvSpPr txBox="1"/>
          <p:nvPr/>
        </p:nvSpPr>
        <p:spPr>
          <a:xfrm>
            <a:off x="7591577" y="2011680"/>
            <a:ext cx="1435608" cy="457200"/>
          </a:xfrm>
          <a:prstGeom prst="rect">
            <a:avLst/>
          </a:prstGeom>
          <a:noFill/>
        </p:spPr>
        <p:txBody>
          <a:bodyPr wrap="square" anchor="t" lIns="0" rIns="0" tIns="0" bIns="0">
            <a:spAutoFit/>
          </a:bodyPr>
          <a:lstStyle/>
          <a:p>
            <a:pPr algn="l">
              <a:lnSpc>
                <a:spcPct val="110000"/>
              </a:lnSpc>
            </a:pPr>
            <a:r>
              <a:rPr sz="1050" b="1">
                <a:solidFill>
                  <a:srgbClr val="131A20"/>
                </a:solidFill>
                <a:latin typeface="Helvetica Neue"/>
              </a:rPr>
              <a:t>Rerank</a:t>
            </a:r>
          </a:p>
        </p:txBody>
      </p:sp>
      <p:sp>
        <p:nvSpPr>
          <p:cNvPr id="24" name="TextBox 23"/>
          <p:cNvSpPr txBox="1"/>
          <p:nvPr/>
        </p:nvSpPr>
        <p:spPr>
          <a:xfrm>
            <a:off x="9173489" y="2029968"/>
            <a:ext cx="348157" cy="228600"/>
          </a:xfrm>
          <a:prstGeom prst="rect">
            <a:avLst/>
          </a:prstGeom>
          <a:noFill/>
        </p:spPr>
        <p:txBody>
          <a:bodyPr wrap="square" anchor="t" lIns="0" rIns="0" tIns="0" bIns="0">
            <a:spAutoFit/>
          </a:bodyPr>
          <a:lstStyle/>
          <a:p>
            <a:pPr algn="ctr">
              <a:lnSpc>
                <a:spcPct val="100000"/>
              </a:lnSpc>
            </a:pPr>
            <a:r>
              <a:rPr sz="1200" b="0">
                <a:solidFill>
                  <a:srgbClr val="84919C"/>
                </a:solidFill>
                <a:latin typeface="Helvetica Neue"/>
              </a:rPr>
              <a:t>→</a:t>
            </a:r>
          </a:p>
        </p:txBody>
      </p:sp>
      <p:sp>
        <p:nvSpPr>
          <p:cNvPr id="25" name="Rectangle 24"/>
          <p:cNvSpPr/>
          <p:nvPr/>
        </p:nvSpPr>
        <p:spPr>
          <a:xfrm>
            <a:off x="9539935" y="1645920"/>
            <a:ext cx="1965960" cy="1005840"/>
          </a:xfrm>
          <a:prstGeom prst="rect">
            <a:avLst/>
          </a:prstGeom>
          <a:noFill/>
          <a:ln w="9525">
            <a:solidFill>
              <a:srgbClr val="D2DA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67951" y="1792224"/>
            <a:ext cx="1709928" cy="146304"/>
          </a:xfrm>
          <a:prstGeom prst="rect">
            <a:avLst/>
          </a:prstGeom>
          <a:noFill/>
        </p:spPr>
        <p:txBody>
          <a:bodyPr wrap="square" anchor="t" lIns="0" rIns="0" tIns="0" bIns="0">
            <a:spAutoFit/>
          </a:bodyPr>
          <a:lstStyle/>
          <a:p>
            <a:pPr algn="l">
              <a:lnSpc>
                <a:spcPct val="100000"/>
              </a:lnSpc>
            </a:pPr>
            <a:r>
              <a:rPr sz="750" b="0">
                <a:solidFill>
                  <a:srgbClr val="84919C"/>
                </a:solidFill>
                <a:latin typeface="Menlo"/>
              </a:rPr>
              <a:t>05</a:t>
            </a:r>
          </a:p>
        </p:txBody>
      </p:sp>
      <p:sp>
        <p:nvSpPr>
          <p:cNvPr id="27" name="TextBox 26"/>
          <p:cNvSpPr txBox="1"/>
          <p:nvPr/>
        </p:nvSpPr>
        <p:spPr>
          <a:xfrm>
            <a:off x="9667951" y="2011680"/>
            <a:ext cx="1709928" cy="457200"/>
          </a:xfrm>
          <a:prstGeom prst="rect">
            <a:avLst/>
          </a:prstGeom>
          <a:noFill/>
        </p:spPr>
        <p:txBody>
          <a:bodyPr wrap="square" anchor="t" lIns="0" rIns="0" tIns="0" bIns="0">
            <a:spAutoFit/>
          </a:bodyPr>
          <a:lstStyle/>
          <a:p>
            <a:pPr algn="l">
              <a:lnSpc>
                <a:spcPct val="110000"/>
              </a:lnSpc>
            </a:pPr>
            <a:r>
              <a:rPr sz="1050" b="1">
                <a:solidFill>
                  <a:srgbClr val="131A20"/>
                </a:solidFill>
                <a:latin typeface="Helvetica Neue"/>
              </a:rPr>
              <a:t>Guard &amp; generate</a:t>
            </a:r>
          </a:p>
        </p:txBody>
      </p:sp>
      <p:sp>
        <p:nvSpPr>
          <p:cNvPr id="28" name="Rectangle 27"/>
          <p:cNvSpPr/>
          <p:nvPr/>
        </p:nvSpPr>
        <p:spPr>
          <a:xfrm>
            <a:off x="685800" y="3017520"/>
            <a:ext cx="3423818" cy="1645920"/>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886968" y="3218688"/>
            <a:ext cx="3021482" cy="219456"/>
          </a:xfrm>
          <a:prstGeom prst="rect">
            <a:avLst/>
          </a:prstGeom>
          <a:noFill/>
        </p:spPr>
        <p:txBody>
          <a:bodyPr wrap="square" anchor="t" lIns="0" rIns="0" tIns="0" bIns="0">
            <a:spAutoFit/>
          </a:bodyPr>
          <a:lstStyle/>
          <a:p>
            <a:pPr algn="l">
              <a:lnSpc>
                <a:spcPct val="100000"/>
              </a:lnSpc>
            </a:pPr>
            <a:r>
              <a:rPr sz="1200" b="1">
                <a:solidFill>
                  <a:srgbClr val="131A20"/>
                </a:solidFill>
                <a:latin typeface="Helvetica Neue"/>
              </a:rPr>
              <a:t>Fused by rank, not score</a:t>
            </a:r>
          </a:p>
        </p:txBody>
      </p:sp>
      <p:sp>
        <p:nvSpPr>
          <p:cNvPr id="30" name="TextBox 29"/>
          <p:cNvSpPr txBox="1"/>
          <p:nvPr/>
        </p:nvSpPr>
        <p:spPr>
          <a:xfrm>
            <a:off x="886968" y="3456432"/>
            <a:ext cx="3021482" cy="182880"/>
          </a:xfrm>
          <a:prstGeom prst="rect">
            <a:avLst/>
          </a:prstGeom>
          <a:noFill/>
        </p:spPr>
        <p:txBody>
          <a:bodyPr wrap="square" anchor="t" lIns="0" rIns="0" tIns="0" bIns="0">
            <a:spAutoFit/>
          </a:bodyPr>
          <a:lstStyle/>
          <a:p>
            <a:pPr algn="l">
              <a:lnSpc>
                <a:spcPct val="100000"/>
              </a:lnSpc>
            </a:pPr>
            <a:r>
              <a:rPr sz="800" b="0">
                <a:solidFill>
                  <a:srgbClr val="00836E"/>
                </a:solidFill>
                <a:latin typeface="Menlo"/>
              </a:rPr>
              <a:t>src/retrieval/hybrid.py</a:t>
            </a:r>
          </a:p>
        </p:txBody>
      </p:sp>
      <p:sp>
        <p:nvSpPr>
          <p:cNvPr id="31" name="TextBox 30"/>
          <p:cNvSpPr txBox="1"/>
          <p:nvPr/>
        </p:nvSpPr>
        <p:spPr>
          <a:xfrm>
            <a:off x="886968" y="3712463"/>
            <a:ext cx="3021482" cy="777240"/>
          </a:xfrm>
          <a:prstGeom prst="rect">
            <a:avLst/>
          </a:prstGeom>
          <a:noFill/>
        </p:spPr>
        <p:txBody>
          <a:bodyPr wrap="square" anchor="t" lIns="0" rIns="0" tIns="0" bIns="0">
            <a:spAutoFit/>
          </a:bodyPr>
          <a:lstStyle/>
          <a:p>
            <a:pPr algn="l">
              <a:lnSpc>
                <a:spcPct val="140000"/>
              </a:lnSpc>
            </a:pPr>
            <a:r>
              <a:rPr sz="950" b="0">
                <a:solidFill>
                  <a:srgbClr val="56636E"/>
                </a:solidFill>
                <a:latin typeface="Helvetica Neue"/>
              </a:rPr>
              <a:t>Cosine similarity and BM25 weights live on incomparable scales, so RRF merges the two lists by rank position instead of inventing a normalization.</a:t>
            </a:r>
          </a:p>
        </p:txBody>
      </p:sp>
      <p:sp>
        <p:nvSpPr>
          <p:cNvPr id="32" name="Rectangle 31"/>
          <p:cNvSpPr/>
          <p:nvPr/>
        </p:nvSpPr>
        <p:spPr>
          <a:xfrm>
            <a:off x="4383938" y="3017520"/>
            <a:ext cx="3423818" cy="1645920"/>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85106" y="3218688"/>
            <a:ext cx="3021482" cy="219456"/>
          </a:xfrm>
          <a:prstGeom prst="rect">
            <a:avLst/>
          </a:prstGeom>
          <a:noFill/>
        </p:spPr>
        <p:txBody>
          <a:bodyPr wrap="square" anchor="t" lIns="0" rIns="0" tIns="0" bIns="0">
            <a:spAutoFit/>
          </a:bodyPr>
          <a:lstStyle/>
          <a:p>
            <a:pPr algn="l">
              <a:lnSpc>
                <a:spcPct val="100000"/>
              </a:lnSpc>
            </a:pPr>
            <a:r>
              <a:rPr sz="1200" b="1">
                <a:solidFill>
                  <a:srgbClr val="131A20"/>
                </a:solidFill>
                <a:latin typeface="Helvetica Neue"/>
              </a:rPr>
              <a:t>Reranked locally</a:t>
            </a:r>
          </a:p>
        </p:txBody>
      </p:sp>
      <p:sp>
        <p:nvSpPr>
          <p:cNvPr id="34" name="TextBox 33"/>
          <p:cNvSpPr txBox="1"/>
          <p:nvPr/>
        </p:nvSpPr>
        <p:spPr>
          <a:xfrm>
            <a:off x="4585106" y="3456432"/>
            <a:ext cx="3021482" cy="182880"/>
          </a:xfrm>
          <a:prstGeom prst="rect">
            <a:avLst/>
          </a:prstGeom>
          <a:noFill/>
        </p:spPr>
        <p:txBody>
          <a:bodyPr wrap="square" anchor="t" lIns="0" rIns="0" tIns="0" bIns="0">
            <a:spAutoFit/>
          </a:bodyPr>
          <a:lstStyle/>
          <a:p>
            <a:pPr algn="l">
              <a:lnSpc>
                <a:spcPct val="100000"/>
              </a:lnSpc>
            </a:pPr>
            <a:r>
              <a:rPr sz="800" b="0">
                <a:solidFill>
                  <a:srgbClr val="00836E"/>
                </a:solidFill>
                <a:latin typeface="Menlo"/>
              </a:rPr>
              <a:t>src/retrieval/reranker.py</a:t>
            </a:r>
          </a:p>
        </p:txBody>
      </p:sp>
      <p:sp>
        <p:nvSpPr>
          <p:cNvPr id="35" name="TextBox 34"/>
          <p:cNvSpPr txBox="1"/>
          <p:nvPr/>
        </p:nvSpPr>
        <p:spPr>
          <a:xfrm>
            <a:off x="4585106" y="3712463"/>
            <a:ext cx="3021482" cy="777240"/>
          </a:xfrm>
          <a:prstGeom prst="rect">
            <a:avLst/>
          </a:prstGeom>
          <a:noFill/>
        </p:spPr>
        <p:txBody>
          <a:bodyPr wrap="square" anchor="t" lIns="0" rIns="0" tIns="0" bIns="0">
            <a:spAutoFit/>
          </a:bodyPr>
          <a:lstStyle/>
          <a:p>
            <a:pPr algn="l">
              <a:lnSpc>
                <a:spcPct val="140000"/>
              </a:lnSpc>
            </a:pPr>
            <a:r>
              <a:rPr sz="950" b="0">
                <a:solidFill>
                  <a:srgbClr val="56636E"/>
                </a:solidFill>
                <a:latin typeface="Helvetica Neue"/>
              </a:rPr>
              <a:t>A CPU cross-encoder scores each candidate against the query jointly and narrows 20 → 4. No second paid API, at the cost of the slowest stage per unit of work.</a:t>
            </a:r>
          </a:p>
        </p:txBody>
      </p:sp>
      <p:sp>
        <p:nvSpPr>
          <p:cNvPr id="36" name="Rectangle 35"/>
          <p:cNvSpPr/>
          <p:nvPr/>
        </p:nvSpPr>
        <p:spPr>
          <a:xfrm>
            <a:off x="8082076" y="3017520"/>
            <a:ext cx="3423818" cy="1645920"/>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83244" y="3218688"/>
            <a:ext cx="3021482" cy="219456"/>
          </a:xfrm>
          <a:prstGeom prst="rect">
            <a:avLst/>
          </a:prstGeom>
          <a:noFill/>
        </p:spPr>
        <p:txBody>
          <a:bodyPr wrap="square" anchor="t" lIns="0" rIns="0" tIns="0" bIns="0">
            <a:spAutoFit/>
          </a:bodyPr>
          <a:lstStyle/>
          <a:p>
            <a:pPr algn="l">
              <a:lnSpc>
                <a:spcPct val="100000"/>
              </a:lnSpc>
            </a:pPr>
            <a:r>
              <a:rPr sz="1200" b="1">
                <a:solidFill>
                  <a:srgbClr val="131A20"/>
                </a:solidFill>
                <a:latin typeface="Helvetica Neue"/>
              </a:rPr>
              <a:t>Guarded, then cited</a:t>
            </a:r>
          </a:p>
        </p:txBody>
      </p:sp>
      <p:sp>
        <p:nvSpPr>
          <p:cNvPr id="38" name="TextBox 37"/>
          <p:cNvSpPr txBox="1"/>
          <p:nvPr/>
        </p:nvSpPr>
        <p:spPr>
          <a:xfrm>
            <a:off x="8283244" y="3456432"/>
            <a:ext cx="3021482" cy="182880"/>
          </a:xfrm>
          <a:prstGeom prst="rect">
            <a:avLst/>
          </a:prstGeom>
          <a:noFill/>
        </p:spPr>
        <p:txBody>
          <a:bodyPr wrap="square" anchor="t" lIns="0" rIns="0" tIns="0" bIns="0">
            <a:spAutoFit/>
          </a:bodyPr>
          <a:lstStyle/>
          <a:p>
            <a:pPr algn="l">
              <a:lnSpc>
                <a:spcPct val="100000"/>
              </a:lnSpc>
            </a:pPr>
            <a:r>
              <a:rPr sz="800" b="0">
                <a:solidFill>
                  <a:srgbClr val="00836E"/>
                </a:solidFill>
                <a:latin typeface="Menlo"/>
              </a:rPr>
              <a:t>src/guardrails/hallucination.py</a:t>
            </a:r>
          </a:p>
        </p:txBody>
      </p:sp>
      <p:sp>
        <p:nvSpPr>
          <p:cNvPr id="39" name="TextBox 38"/>
          <p:cNvSpPr txBox="1"/>
          <p:nvPr/>
        </p:nvSpPr>
        <p:spPr>
          <a:xfrm>
            <a:off x="8283244" y="3712463"/>
            <a:ext cx="3021482" cy="777240"/>
          </a:xfrm>
          <a:prstGeom prst="rect">
            <a:avLst/>
          </a:prstGeom>
          <a:noFill/>
        </p:spPr>
        <p:txBody>
          <a:bodyPr wrap="square" anchor="t" lIns="0" rIns="0" tIns="0" bIns="0">
            <a:spAutoFit/>
          </a:bodyPr>
          <a:lstStyle/>
          <a:p>
            <a:pPr algn="l">
              <a:lnSpc>
                <a:spcPct val="140000"/>
              </a:lnSpc>
            </a:pPr>
            <a:r>
              <a:rPr sz="950" b="0">
                <a:solidFill>
                  <a:srgbClr val="56636E"/>
                </a:solidFill>
                <a:latin typeface="Helvetica Neue"/>
              </a:rPr>
              <a:t>A score floor skips the LLM when context is weak. Citations are taken from the chunks placed in the prompt, so they cannot be hallucinated.</a:t>
            </a:r>
          </a:p>
        </p:txBody>
      </p:sp>
      <p:sp>
        <p:nvSpPr>
          <p:cNvPr id="40" name="TextBox 39"/>
          <p:cNvSpPr txBox="1"/>
          <p:nvPr/>
        </p:nvSpPr>
        <p:spPr>
          <a:xfrm>
            <a:off x="685800" y="4992624"/>
            <a:ext cx="5486400" cy="18288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WHERE A MEDIAN TURN SPENDS ITS TIME</a:t>
            </a:r>
          </a:p>
        </p:txBody>
      </p:sp>
      <p:sp>
        <p:nvSpPr>
          <p:cNvPr id="41" name="TextBox 40"/>
          <p:cNvSpPr txBox="1"/>
          <p:nvPr/>
        </p:nvSpPr>
        <p:spPr>
          <a:xfrm>
            <a:off x="6172200" y="4992624"/>
            <a:ext cx="5333695" cy="182880"/>
          </a:xfrm>
          <a:prstGeom prst="rect">
            <a:avLst/>
          </a:prstGeom>
          <a:noFill/>
        </p:spPr>
        <p:txBody>
          <a:bodyPr wrap="square" anchor="t" lIns="0" rIns="0" tIns="0" bIns="0">
            <a:spAutoFit/>
          </a:bodyPr>
          <a:lstStyle/>
          <a:p>
            <a:pPr algn="r">
              <a:lnSpc>
                <a:spcPct val="100000"/>
              </a:lnSpc>
            </a:pPr>
            <a:r>
              <a:rPr sz="850" b="0">
                <a:solidFill>
                  <a:srgbClr val="56636E"/>
                </a:solidFill>
                <a:latin typeface="Menlo"/>
              </a:rPr>
              <a:t>1,519 ms total  ·  p50 over 20 logged queries</a:t>
            </a:r>
          </a:p>
        </p:txBody>
      </p:sp>
      <p:sp>
        <p:nvSpPr>
          <p:cNvPr id="42" name="Rectangle 41"/>
          <p:cNvSpPr/>
          <p:nvPr/>
        </p:nvSpPr>
        <p:spPr>
          <a:xfrm>
            <a:off x="685800" y="5266944"/>
            <a:ext cx="2108353" cy="201168"/>
          </a:xfrm>
          <a:prstGeom prst="rect">
            <a:avLst/>
          </a:prstGeom>
          <a:solidFill>
            <a:srgbClr val="4B5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85800" y="5577840"/>
            <a:ext cx="91440" cy="91440"/>
          </a:xfrm>
          <a:prstGeom prst="rect">
            <a:avLst/>
          </a:prstGeom>
          <a:solidFill>
            <a:srgbClr val="4B5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50392" y="5559552"/>
            <a:ext cx="2108353" cy="182880"/>
          </a:xfrm>
          <a:prstGeom prst="rect">
            <a:avLst/>
          </a:prstGeom>
          <a:noFill/>
        </p:spPr>
        <p:txBody>
          <a:bodyPr wrap="square" anchor="t" lIns="0" rIns="0" tIns="0" bIns="0">
            <a:spAutoFit/>
          </a:bodyPr>
          <a:lstStyle/>
          <a:p>
            <a:pPr algn="l">
              <a:lnSpc>
                <a:spcPct val="100000"/>
              </a:lnSpc>
            </a:pPr>
            <a:r>
              <a:rPr sz="850" b="0">
                <a:solidFill>
                  <a:srgbClr val="56636E"/>
                </a:solidFill>
                <a:latin typeface="Menlo"/>
              </a:rPr>
              <a:t>Retrieval </a:t>
            </a:r>
            <a:r>
              <a:rPr sz="850" b="0">
                <a:solidFill>
                  <a:srgbClr val="84919C"/>
                </a:solidFill>
                <a:latin typeface="Menlo"/>
              </a:rPr>
              <a:t>298 ms</a:t>
            </a:r>
          </a:p>
        </p:txBody>
      </p:sp>
      <p:sp>
        <p:nvSpPr>
          <p:cNvPr id="45" name="Rectangle 44"/>
          <p:cNvSpPr/>
          <p:nvPr/>
        </p:nvSpPr>
        <p:spPr>
          <a:xfrm>
            <a:off x="2830729" y="5266944"/>
            <a:ext cx="1202752" cy="201168"/>
          </a:xfrm>
          <a:prstGeom prst="rect">
            <a:avLst/>
          </a:prstGeom>
          <a:solidFill>
            <a:srgbClr val="B9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2830729" y="5577840"/>
            <a:ext cx="91440" cy="91440"/>
          </a:xfrm>
          <a:prstGeom prst="rect">
            <a:avLst/>
          </a:prstGeom>
          <a:solidFill>
            <a:srgbClr val="B9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2995321" y="5559552"/>
            <a:ext cx="1202752" cy="182880"/>
          </a:xfrm>
          <a:prstGeom prst="rect">
            <a:avLst/>
          </a:prstGeom>
          <a:noFill/>
        </p:spPr>
        <p:txBody>
          <a:bodyPr wrap="square" anchor="t" lIns="0" rIns="0" tIns="0" bIns="0">
            <a:spAutoFit/>
          </a:bodyPr>
          <a:lstStyle/>
          <a:p>
            <a:pPr algn="l">
              <a:lnSpc>
                <a:spcPct val="100000"/>
              </a:lnSpc>
            </a:pPr>
            <a:r>
              <a:rPr sz="850" b="0">
                <a:solidFill>
                  <a:srgbClr val="56636E"/>
                </a:solidFill>
                <a:latin typeface="Menlo"/>
              </a:rPr>
              <a:t>Rerank </a:t>
            </a:r>
            <a:r>
              <a:rPr sz="850" b="0">
                <a:solidFill>
                  <a:srgbClr val="84919C"/>
                </a:solidFill>
                <a:latin typeface="Menlo"/>
              </a:rPr>
              <a:t>170 ms</a:t>
            </a:r>
          </a:p>
        </p:txBody>
      </p:sp>
      <p:sp>
        <p:nvSpPr>
          <p:cNvPr id="48" name="Rectangle 47"/>
          <p:cNvSpPr/>
          <p:nvPr/>
        </p:nvSpPr>
        <p:spPr>
          <a:xfrm>
            <a:off x="4070057" y="5266944"/>
            <a:ext cx="7435837" cy="201168"/>
          </a:xfrm>
          <a:prstGeom prst="rect">
            <a:avLst/>
          </a:prstGeom>
          <a:solidFill>
            <a:srgbClr val="008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4070057" y="5577840"/>
            <a:ext cx="91440" cy="91440"/>
          </a:xfrm>
          <a:prstGeom prst="rect">
            <a:avLst/>
          </a:prstGeom>
          <a:solidFill>
            <a:srgbClr val="008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4234649" y="5559552"/>
            <a:ext cx="7435837" cy="182880"/>
          </a:xfrm>
          <a:prstGeom prst="rect">
            <a:avLst/>
          </a:prstGeom>
          <a:noFill/>
        </p:spPr>
        <p:txBody>
          <a:bodyPr wrap="square" anchor="t" lIns="0" rIns="0" tIns="0" bIns="0">
            <a:spAutoFit/>
          </a:bodyPr>
          <a:lstStyle/>
          <a:p>
            <a:pPr algn="l">
              <a:lnSpc>
                <a:spcPct val="100000"/>
              </a:lnSpc>
            </a:pPr>
            <a:r>
              <a:rPr sz="850" b="0">
                <a:solidFill>
                  <a:srgbClr val="56636E"/>
                </a:solidFill>
                <a:latin typeface="Menlo"/>
              </a:rPr>
              <a:t>Generation </a:t>
            </a:r>
            <a:r>
              <a:rPr sz="850" b="0">
                <a:solidFill>
                  <a:srgbClr val="84919C"/>
                </a:solidFill>
                <a:latin typeface="Menlo"/>
              </a:rPr>
              <a:t>1,051 ms</a:t>
            </a:r>
          </a:p>
        </p:txBody>
      </p:sp>
      <p:sp>
        <p:nvSpPr>
          <p:cNvPr id="51" name="TextBox 50"/>
          <p:cNvSpPr txBox="1"/>
          <p:nvPr/>
        </p:nvSpPr>
        <p:spPr>
          <a:xfrm>
            <a:off x="685800" y="5870448"/>
            <a:ext cx="10820095" cy="274320"/>
          </a:xfrm>
          <a:prstGeom prst="rect">
            <a:avLst/>
          </a:prstGeom>
          <a:noFill/>
        </p:spPr>
        <p:txBody>
          <a:bodyPr wrap="square" anchor="t" lIns="0" rIns="0" tIns="0" bIns="0">
            <a:spAutoFit/>
          </a:bodyPr>
          <a:lstStyle/>
          <a:p>
            <a:pPr algn="l">
              <a:lnSpc>
                <a:spcPct val="145000"/>
              </a:lnSpc>
            </a:pPr>
            <a:r>
              <a:rPr sz="850" b="0">
                <a:solidFill>
                  <a:srgbClr val="84919C"/>
                </a:solidFill>
                <a:latin typeface="Menlo"/>
              </a:rPr>
              <a:t>Condensation contributes 0 ms at the median because it only runs on follow-up turns — its p95 is 783 ms. Measured from logs/app.log.</a:t>
            </a:r>
          </a:p>
        </p:txBody>
      </p:sp>
      <p:cxnSp>
        <p:nvCxnSpPr>
          <p:cNvPr id="52" name="Connector 51"/>
          <p:cNvCxnSpPr/>
          <p:nvPr/>
        </p:nvCxnSpPr>
        <p:spPr>
          <a:xfrm>
            <a:off x="685800" y="6327648"/>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6437376"/>
            <a:ext cx="6400800" cy="201168"/>
          </a:xfrm>
          <a:prstGeom prst="rect">
            <a:avLst/>
          </a:prstGeom>
          <a:noFill/>
        </p:spPr>
        <p:txBody>
          <a:bodyPr wrap="square" anchor="t" lIns="0" rIns="0" tIns="0" bIns="0">
            <a:spAutoFit/>
          </a:bodyPr>
          <a:lstStyle/>
          <a:p>
            <a:pPr algn="l">
              <a:lnSpc>
                <a:spcPct val="100000"/>
              </a:lnSpc>
            </a:pPr>
            <a:r>
              <a:rPr sz="800" b="0">
                <a:solidFill>
                  <a:srgbClr val="84919C"/>
                </a:solidFill>
                <a:latin typeface="Menlo"/>
              </a:rPr>
              <a:t>Employee Knowledge Assistant  ·  IIT Patna USDC GenAI Capstone  ·  Pipeline</a:t>
            </a:r>
          </a:p>
        </p:txBody>
      </p:sp>
      <p:sp>
        <p:nvSpPr>
          <p:cNvPr id="54" name="TextBox 53"/>
          <p:cNvSpPr txBox="1"/>
          <p:nvPr/>
        </p:nvSpPr>
        <p:spPr>
          <a:xfrm>
            <a:off x="8579815" y="6437376"/>
            <a:ext cx="2926080" cy="201168"/>
          </a:xfrm>
          <a:prstGeom prst="rect">
            <a:avLst/>
          </a:prstGeom>
          <a:noFill/>
        </p:spPr>
        <p:txBody>
          <a:bodyPr wrap="none" lIns="0" rIns="0" tIns="0" bIns="0">
            <a:spAutoFit/>
          </a:bodyPr>
          <a:lstStyle/>
          <a:p>
            <a:pPr algn="r">
              <a:lnSpc>
                <a:spcPct val="100000"/>
              </a:lnSpc>
            </a:pPr>
            <a:r>
              <a:rPr sz="800" b="0">
                <a:solidFill>
                  <a:srgbClr val="84919C"/>
                </a:solidFill>
                <a:latin typeface="Menlo"/>
                <a:hlinkClick r:id="rId2" action="ppaction://hlinksldjump"/>
              </a:rPr>
              <a:t>01</a:t>
            </a:r>
            <a:r>
              <a:rPr sz="800">
                <a:solidFill>
                  <a:srgbClr val="D2DAE0"/>
                </a:solidFill>
                <a:latin typeface="Menlo"/>
              </a:rPr>
              <a:t>   </a:t>
            </a:r>
            <a:r>
              <a:rPr sz="800" b="0">
                <a:solidFill>
                  <a:srgbClr val="84919C"/>
                </a:solidFill>
                <a:latin typeface="Menlo"/>
                <a:hlinkClick r:id="rId3" action="ppaction://hlinksldjump"/>
              </a:rPr>
              <a:t>02</a:t>
            </a:r>
            <a:r>
              <a:rPr sz="800">
                <a:solidFill>
                  <a:srgbClr val="D2DAE0"/>
                </a:solidFill>
                <a:latin typeface="Menlo"/>
              </a:rPr>
              <a:t>   </a:t>
            </a:r>
            <a:r>
              <a:rPr sz="800" b="1">
                <a:solidFill>
                  <a:srgbClr val="00836E"/>
                </a:solidFill>
                <a:latin typeface="Menlo"/>
              </a:rPr>
              <a:t>03</a:t>
            </a:r>
            <a:r>
              <a:rPr sz="800">
                <a:solidFill>
                  <a:srgbClr val="D2DAE0"/>
                </a:solidFill>
                <a:latin typeface="Menlo"/>
              </a:rPr>
              <a:t>   </a:t>
            </a:r>
            <a:r>
              <a:rPr sz="800" b="0">
                <a:solidFill>
                  <a:srgbClr val="84919C"/>
                </a:solidFill>
                <a:latin typeface="Menlo"/>
                <a:hlinkClick r:id="rId4" action="ppaction://hlinksldjump"/>
              </a:rPr>
              <a:t>04</a:t>
            </a:r>
            <a:r>
              <a:rPr sz="800">
                <a:solidFill>
                  <a:srgbClr val="D2DAE0"/>
                </a:solidFill>
                <a:latin typeface="Menlo"/>
              </a:rPr>
              <a:t>   </a:t>
            </a:r>
            <a:r>
              <a:rPr sz="800" b="0">
                <a:solidFill>
                  <a:srgbClr val="84919C"/>
                </a:solidFill>
                <a:latin typeface="Menlo"/>
                <a:hlinkClick r:id="rId5" action="ppaction://hlinksldjump"/>
              </a:rPr>
              <a:t>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566928"/>
            <a:ext cx="10820095" cy="22860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CAPTURED FROM THE RUNNING APP</a:t>
            </a:r>
          </a:p>
        </p:txBody>
      </p:sp>
      <p:sp>
        <p:nvSpPr>
          <p:cNvPr id="4" name="TextBox 3"/>
          <p:cNvSpPr txBox="1"/>
          <p:nvPr/>
        </p:nvSpPr>
        <p:spPr>
          <a:xfrm>
            <a:off x="685800" y="841248"/>
            <a:ext cx="8872478" cy="731520"/>
          </a:xfrm>
          <a:prstGeom prst="rect">
            <a:avLst/>
          </a:prstGeom>
          <a:noFill/>
        </p:spPr>
        <p:txBody>
          <a:bodyPr wrap="square" anchor="t" lIns="0" rIns="0" tIns="0" bIns="0">
            <a:spAutoFit/>
          </a:bodyPr>
          <a:lstStyle/>
          <a:p>
            <a:pPr algn="l">
              <a:lnSpc>
                <a:spcPct val="102000"/>
              </a:lnSpc>
            </a:pPr>
            <a:r>
              <a:rPr sz="3000" b="1">
                <a:solidFill>
                  <a:srgbClr val="131A20"/>
                </a:solidFill>
                <a:latin typeface="Helvetica Neue"/>
              </a:rPr>
              <a:t>Three turns, one session</a:t>
            </a:r>
          </a:p>
        </p:txBody>
      </p:sp>
      <p:sp>
        <p:nvSpPr>
          <p:cNvPr id="5" name="TextBox 4"/>
          <p:cNvSpPr txBox="1"/>
          <p:nvPr/>
        </p:nvSpPr>
        <p:spPr>
          <a:xfrm>
            <a:off x="6961455" y="1170432"/>
            <a:ext cx="4544439" cy="274320"/>
          </a:xfrm>
          <a:prstGeom prst="rect">
            <a:avLst/>
          </a:prstGeom>
          <a:noFill/>
        </p:spPr>
        <p:txBody>
          <a:bodyPr wrap="square" anchor="t" lIns="0" rIns="0" tIns="0" bIns="0">
            <a:spAutoFit/>
          </a:bodyPr>
          <a:lstStyle/>
          <a:p>
            <a:pPr algn="r">
              <a:lnSpc>
                <a:spcPct val="100000"/>
              </a:lnSpc>
            </a:pPr>
            <a:r>
              <a:rPr sz="900" b="0">
                <a:solidFill>
                  <a:srgbClr val="84919C"/>
                </a:solidFill>
                <a:latin typeface="Menlo"/>
              </a:rPr>
              <a:t>localhost:8501</a:t>
            </a:r>
          </a:p>
        </p:txBody>
      </p:sp>
      <p:sp>
        <p:nvSpPr>
          <p:cNvPr id="6" name="TextBox 5"/>
          <p:cNvSpPr txBox="1"/>
          <p:nvPr/>
        </p:nvSpPr>
        <p:spPr>
          <a:xfrm>
            <a:off x="685800" y="1645920"/>
            <a:ext cx="365760" cy="182880"/>
          </a:xfrm>
          <a:prstGeom prst="rect">
            <a:avLst/>
          </a:prstGeom>
          <a:noFill/>
        </p:spPr>
        <p:txBody>
          <a:bodyPr wrap="square" anchor="t" lIns="0" rIns="0" tIns="0" bIns="0">
            <a:spAutoFit/>
          </a:bodyPr>
          <a:lstStyle/>
          <a:p>
            <a:pPr algn="l">
              <a:lnSpc>
                <a:spcPct val="100000"/>
              </a:lnSpc>
            </a:pPr>
            <a:r>
              <a:rPr sz="850" b="0">
                <a:solidFill>
                  <a:srgbClr val="00836E"/>
                </a:solidFill>
                <a:latin typeface="Menlo"/>
              </a:rPr>
              <a:t>01</a:t>
            </a:r>
          </a:p>
        </p:txBody>
      </p:sp>
      <p:sp>
        <p:nvSpPr>
          <p:cNvPr id="7" name="TextBox 6"/>
          <p:cNvSpPr txBox="1"/>
          <p:nvPr/>
        </p:nvSpPr>
        <p:spPr>
          <a:xfrm>
            <a:off x="1069848" y="1627632"/>
            <a:ext cx="6046927" cy="219456"/>
          </a:xfrm>
          <a:prstGeom prst="rect">
            <a:avLst/>
          </a:prstGeom>
          <a:noFill/>
        </p:spPr>
        <p:txBody>
          <a:bodyPr wrap="square" anchor="t" lIns="0" rIns="0" tIns="0" bIns="0">
            <a:spAutoFit/>
          </a:bodyPr>
          <a:lstStyle/>
          <a:p>
            <a:pPr algn="l">
              <a:lnSpc>
                <a:spcPct val="100000"/>
              </a:lnSpc>
            </a:pPr>
            <a:r>
              <a:rPr sz="1300" b="1">
                <a:solidFill>
                  <a:srgbClr val="131A20"/>
                </a:solidFill>
                <a:latin typeface="Helvetica Neue"/>
              </a:rPr>
              <a:t>Grounded answer</a:t>
            </a:r>
          </a:p>
        </p:txBody>
      </p:sp>
      <p:sp>
        <p:nvSpPr>
          <p:cNvPr id="8" name="TextBox 7"/>
          <p:cNvSpPr txBox="1"/>
          <p:nvPr/>
        </p:nvSpPr>
        <p:spPr>
          <a:xfrm>
            <a:off x="1069848" y="1901952"/>
            <a:ext cx="6046927" cy="1451975"/>
          </a:xfrm>
          <a:prstGeom prst="rect">
            <a:avLst/>
          </a:prstGeom>
          <a:noFill/>
        </p:spPr>
        <p:txBody>
          <a:bodyPr wrap="square" anchor="t" lIns="0" rIns="0" tIns="0" bIns="0">
            <a:spAutoFit/>
          </a:bodyPr>
          <a:lstStyle/>
          <a:p>
            <a:pPr algn="l">
              <a:lnSpc>
                <a:spcPct val="142000"/>
              </a:lnSpc>
            </a:pPr>
            <a:r>
              <a:rPr sz="950" b="0">
                <a:solidFill>
                  <a:srgbClr val="56636E"/>
                </a:solidFill>
                <a:latin typeface="Helvetica Neue"/>
              </a:rPr>
              <a:t>"How do I reset my VPN password?" — answered from IT_Policy.docx in 2,084 ms. The Sources panel names the document and how many excerpts reached the prompt, because citations are built from the retrieved chunks rather than parsed out of the model's reply.</a:t>
            </a:r>
          </a:p>
        </p:txBody>
      </p:sp>
      <p:sp>
        <p:nvSpPr>
          <p:cNvPr id="9" name="Rectangle 8"/>
          <p:cNvSpPr/>
          <p:nvPr/>
        </p:nvSpPr>
        <p:spPr>
          <a:xfrm>
            <a:off x="7528255" y="1627632"/>
            <a:ext cx="3977639" cy="1726295"/>
          </a:xfrm>
          <a:prstGeom prst="rect">
            <a:avLst/>
          </a:prstGeom>
          <a:no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pt-grounded.png"/>
          <p:cNvPicPr>
            <a:picLocks noChangeAspect="1"/>
          </p:cNvPicPr>
          <p:nvPr/>
        </p:nvPicPr>
        <p:blipFill>
          <a:blip r:embed="rId2"/>
          <a:stretch>
            <a:fillRect/>
          </a:stretch>
        </p:blipFill>
        <p:spPr>
          <a:xfrm>
            <a:off x="7528255" y="1627632"/>
            <a:ext cx="3977639" cy="1727432"/>
          </a:xfrm>
          <a:prstGeom prst="rect">
            <a:avLst/>
          </a:prstGeom>
        </p:spPr>
      </p:pic>
      <p:sp>
        <p:nvSpPr>
          <p:cNvPr id="11" name="TextBox 10"/>
          <p:cNvSpPr txBox="1"/>
          <p:nvPr/>
        </p:nvSpPr>
        <p:spPr>
          <a:xfrm>
            <a:off x="685800" y="3536807"/>
            <a:ext cx="365760" cy="182880"/>
          </a:xfrm>
          <a:prstGeom prst="rect">
            <a:avLst/>
          </a:prstGeom>
          <a:noFill/>
        </p:spPr>
        <p:txBody>
          <a:bodyPr wrap="square" anchor="t" lIns="0" rIns="0" tIns="0" bIns="0">
            <a:spAutoFit/>
          </a:bodyPr>
          <a:lstStyle/>
          <a:p>
            <a:pPr algn="l">
              <a:lnSpc>
                <a:spcPct val="100000"/>
              </a:lnSpc>
            </a:pPr>
            <a:r>
              <a:rPr sz="850" b="0">
                <a:solidFill>
                  <a:srgbClr val="00836E"/>
                </a:solidFill>
                <a:latin typeface="Menlo"/>
              </a:rPr>
              <a:t>02</a:t>
            </a:r>
          </a:p>
        </p:txBody>
      </p:sp>
      <p:sp>
        <p:nvSpPr>
          <p:cNvPr id="12" name="TextBox 11"/>
          <p:cNvSpPr txBox="1"/>
          <p:nvPr/>
        </p:nvSpPr>
        <p:spPr>
          <a:xfrm>
            <a:off x="1069848" y="3518519"/>
            <a:ext cx="6046927" cy="219456"/>
          </a:xfrm>
          <a:prstGeom prst="rect">
            <a:avLst/>
          </a:prstGeom>
          <a:noFill/>
        </p:spPr>
        <p:txBody>
          <a:bodyPr wrap="square" anchor="t" lIns="0" rIns="0" tIns="0" bIns="0">
            <a:spAutoFit/>
          </a:bodyPr>
          <a:lstStyle/>
          <a:p>
            <a:pPr algn="l">
              <a:lnSpc>
                <a:spcPct val="100000"/>
              </a:lnSpc>
            </a:pPr>
            <a:r>
              <a:rPr sz="1300" b="1">
                <a:solidFill>
                  <a:srgbClr val="131A20"/>
                </a:solidFill>
                <a:latin typeface="Helvetica Neue"/>
              </a:rPr>
              <a:t>Follow-up memory</a:t>
            </a:r>
          </a:p>
        </p:txBody>
      </p:sp>
      <p:sp>
        <p:nvSpPr>
          <p:cNvPr id="13" name="TextBox 12"/>
          <p:cNvSpPr txBox="1"/>
          <p:nvPr/>
        </p:nvSpPr>
        <p:spPr>
          <a:xfrm>
            <a:off x="1069848" y="3792839"/>
            <a:ext cx="6046927" cy="1340601"/>
          </a:xfrm>
          <a:prstGeom prst="rect">
            <a:avLst/>
          </a:prstGeom>
          <a:noFill/>
        </p:spPr>
        <p:txBody>
          <a:bodyPr wrap="square" anchor="t" lIns="0" rIns="0" tIns="0" bIns="0">
            <a:spAutoFit/>
          </a:bodyPr>
          <a:lstStyle/>
          <a:p>
            <a:pPr algn="l">
              <a:lnSpc>
                <a:spcPct val="142000"/>
              </a:lnSpc>
            </a:pPr>
            <a:r>
              <a:rPr sz="950" b="0">
                <a:solidFill>
                  <a:srgbClr val="56636E"/>
                </a:solidFill>
                <a:latin typeface="Helvetica Neue"/>
              </a:rPr>
              <a:t>"What if the automated reset fails?" — the question has no subject of its own. Condensation resolves it against the previous turn before retrieval runs, and the answer now draws on two documents.</a:t>
            </a:r>
          </a:p>
        </p:txBody>
      </p:sp>
      <p:sp>
        <p:nvSpPr>
          <p:cNvPr id="14" name="Rectangle 13"/>
          <p:cNvSpPr/>
          <p:nvPr/>
        </p:nvSpPr>
        <p:spPr>
          <a:xfrm>
            <a:off x="7528255" y="3518519"/>
            <a:ext cx="3977639" cy="1614921"/>
          </a:xfrm>
          <a:prstGeom prst="rect">
            <a:avLst/>
          </a:prstGeom>
          <a:no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ppt-memory.png"/>
          <p:cNvPicPr>
            <a:picLocks noChangeAspect="1"/>
          </p:cNvPicPr>
          <p:nvPr/>
        </p:nvPicPr>
        <p:blipFill>
          <a:blip r:embed="rId3"/>
          <a:stretch>
            <a:fillRect/>
          </a:stretch>
        </p:blipFill>
        <p:spPr>
          <a:xfrm>
            <a:off x="7528255" y="3518519"/>
            <a:ext cx="3977639" cy="1613785"/>
          </a:xfrm>
          <a:prstGeom prst="rect">
            <a:avLst/>
          </a:prstGeom>
        </p:spPr>
      </p:pic>
      <p:sp>
        <p:nvSpPr>
          <p:cNvPr id="16" name="TextBox 15"/>
          <p:cNvSpPr txBox="1"/>
          <p:nvPr/>
        </p:nvSpPr>
        <p:spPr>
          <a:xfrm>
            <a:off x="685800" y="5316321"/>
            <a:ext cx="365760" cy="182880"/>
          </a:xfrm>
          <a:prstGeom prst="rect">
            <a:avLst/>
          </a:prstGeom>
          <a:noFill/>
        </p:spPr>
        <p:txBody>
          <a:bodyPr wrap="square" anchor="t" lIns="0" rIns="0" tIns="0" bIns="0">
            <a:spAutoFit/>
          </a:bodyPr>
          <a:lstStyle/>
          <a:p>
            <a:pPr algn="l">
              <a:lnSpc>
                <a:spcPct val="100000"/>
              </a:lnSpc>
            </a:pPr>
            <a:r>
              <a:rPr sz="850" b="0">
                <a:solidFill>
                  <a:srgbClr val="00836E"/>
                </a:solidFill>
                <a:latin typeface="Menlo"/>
              </a:rPr>
              <a:t>03</a:t>
            </a:r>
          </a:p>
        </p:txBody>
      </p:sp>
      <p:sp>
        <p:nvSpPr>
          <p:cNvPr id="17" name="TextBox 16"/>
          <p:cNvSpPr txBox="1"/>
          <p:nvPr/>
        </p:nvSpPr>
        <p:spPr>
          <a:xfrm>
            <a:off x="1069848" y="5298033"/>
            <a:ext cx="6046927" cy="219456"/>
          </a:xfrm>
          <a:prstGeom prst="rect">
            <a:avLst/>
          </a:prstGeom>
          <a:noFill/>
        </p:spPr>
        <p:txBody>
          <a:bodyPr wrap="square" anchor="t" lIns="0" rIns="0" tIns="0" bIns="0">
            <a:spAutoFit/>
          </a:bodyPr>
          <a:lstStyle/>
          <a:p>
            <a:pPr algn="l">
              <a:lnSpc>
                <a:spcPct val="100000"/>
              </a:lnSpc>
            </a:pPr>
            <a:r>
              <a:rPr sz="1300" b="1">
                <a:solidFill>
                  <a:srgbClr val="131A20"/>
                </a:solidFill>
                <a:latin typeface="Helvetica Neue"/>
              </a:rPr>
              <a:t>Honest refusal</a:t>
            </a:r>
          </a:p>
        </p:txBody>
      </p:sp>
      <p:sp>
        <p:nvSpPr>
          <p:cNvPr id="18" name="TextBox 17"/>
          <p:cNvSpPr txBox="1"/>
          <p:nvPr/>
        </p:nvSpPr>
        <p:spPr>
          <a:xfrm>
            <a:off x="1069848" y="5572353"/>
            <a:ext cx="6046927" cy="594359"/>
          </a:xfrm>
          <a:prstGeom prst="rect">
            <a:avLst/>
          </a:prstGeom>
          <a:noFill/>
        </p:spPr>
        <p:txBody>
          <a:bodyPr wrap="square" anchor="t" lIns="0" rIns="0" tIns="0" bIns="0">
            <a:spAutoFit/>
          </a:bodyPr>
          <a:lstStyle/>
          <a:p>
            <a:pPr algn="l">
              <a:lnSpc>
                <a:spcPct val="142000"/>
              </a:lnSpc>
            </a:pPr>
            <a:r>
              <a:rPr sz="950" b="0">
                <a:solidFill>
                  <a:srgbClr val="56636E"/>
                </a:solidFill>
                <a:latin typeface="Helvetica Neue"/>
              </a:rPr>
              <a:t>"Does the company offer a sabbatical leave program?" — no such policy exists in the corpus. The guardrail stops on insufficient context, so the LLM is never given the chance to invent one.</a:t>
            </a:r>
          </a:p>
        </p:txBody>
      </p:sp>
      <p:sp>
        <p:nvSpPr>
          <p:cNvPr id="19" name="Rectangle 18"/>
          <p:cNvSpPr/>
          <p:nvPr/>
        </p:nvSpPr>
        <p:spPr>
          <a:xfrm>
            <a:off x="7528255" y="5298033"/>
            <a:ext cx="3977639" cy="680176"/>
          </a:xfrm>
          <a:prstGeom prst="rect">
            <a:avLst/>
          </a:prstGeom>
          <a:no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pt-refusal.png"/>
          <p:cNvPicPr>
            <a:picLocks noChangeAspect="1"/>
          </p:cNvPicPr>
          <p:nvPr/>
        </p:nvPicPr>
        <p:blipFill>
          <a:blip r:embed="rId4"/>
          <a:stretch>
            <a:fillRect/>
          </a:stretch>
        </p:blipFill>
        <p:spPr>
          <a:xfrm>
            <a:off x="7528255" y="5298033"/>
            <a:ext cx="3977639" cy="681881"/>
          </a:xfrm>
          <a:prstGeom prst="rect">
            <a:avLst/>
          </a:prstGeom>
        </p:spPr>
      </p:pic>
      <p:cxnSp>
        <p:nvCxnSpPr>
          <p:cNvPr id="21" name="Connector 20"/>
          <p:cNvCxnSpPr/>
          <p:nvPr/>
        </p:nvCxnSpPr>
        <p:spPr>
          <a:xfrm>
            <a:off x="685800" y="6327648"/>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 y="6437376"/>
            <a:ext cx="6400800" cy="201168"/>
          </a:xfrm>
          <a:prstGeom prst="rect">
            <a:avLst/>
          </a:prstGeom>
          <a:noFill/>
        </p:spPr>
        <p:txBody>
          <a:bodyPr wrap="square" anchor="t" lIns="0" rIns="0" tIns="0" bIns="0">
            <a:spAutoFit/>
          </a:bodyPr>
          <a:lstStyle/>
          <a:p>
            <a:pPr algn="l">
              <a:lnSpc>
                <a:spcPct val="100000"/>
              </a:lnSpc>
            </a:pPr>
            <a:r>
              <a:rPr sz="800" b="0">
                <a:solidFill>
                  <a:srgbClr val="84919C"/>
                </a:solidFill>
                <a:latin typeface="Menlo"/>
              </a:rPr>
              <a:t>Employee Knowledge Assistant  ·  IIT Patna USDC GenAI Capstone  ·  Live session</a:t>
            </a:r>
          </a:p>
        </p:txBody>
      </p:sp>
      <p:sp>
        <p:nvSpPr>
          <p:cNvPr id="23" name="TextBox 22"/>
          <p:cNvSpPr txBox="1"/>
          <p:nvPr/>
        </p:nvSpPr>
        <p:spPr>
          <a:xfrm>
            <a:off x="8579815" y="6437376"/>
            <a:ext cx="2926080" cy="201168"/>
          </a:xfrm>
          <a:prstGeom prst="rect">
            <a:avLst/>
          </a:prstGeom>
          <a:noFill/>
        </p:spPr>
        <p:txBody>
          <a:bodyPr wrap="none" lIns="0" rIns="0" tIns="0" bIns="0">
            <a:spAutoFit/>
          </a:bodyPr>
          <a:lstStyle/>
          <a:p>
            <a:pPr algn="r">
              <a:lnSpc>
                <a:spcPct val="100000"/>
              </a:lnSpc>
            </a:pPr>
            <a:r>
              <a:rPr sz="800" b="0">
                <a:solidFill>
                  <a:srgbClr val="84919C"/>
                </a:solidFill>
                <a:latin typeface="Menlo"/>
                <a:hlinkClick r:id="rId5" action="ppaction://hlinksldjump"/>
              </a:rPr>
              <a:t>01</a:t>
            </a:r>
            <a:r>
              <a:rPr sz="800">
                <a:solidFill>
                  <a:srgbClr val="D2DAE0"/>
                </a:solidFill>
                <a:latin typeface="Menlo"/>
              </a:rPr>
              <a:t>   </a:t>
            </a:r>
            <a:r>
              <a:rPr sz="800" b="0">
                <a:solidFill>
                  <a:srgbClr val="84919C"/>
                </a:solidFill>
                <a:latin typeface="Menlo"/>
                <a:hlinkClick r:id="rId6" action="ppaction://hlinksldjump"/>
              </a:rPr>
              <a:t>02</a:t>
            </a:r>
            <a:r>
              <a:rPr sz="800">
                <a:solidFill>
                  <a:srgbClr val="D2DAE0"/>
                </a:solidFill>
                <a:latin typeface="Menlo"/>
              </a:rPr>
              <a:t>   </a:t>
            </a:r>
            <a:r>
              <a:rPr sz="800" b="0">
                <a:solidFill>
                  <a:srgbClr val="84919C"/>
                </a:solidFill>
                <a:latin typeface="Menlo"/>
                <a:hlinkClick r:id="rId7" action="ppaction://hlinksldjump"/>
              </a:rPr>
              <a:t>03</a:t>
            </a:r>
            <a:r>
              <a:rPr sz="800">
                <a:solidFill>
                  <a:srgbClr val="D2DAE0"/>
                </a:solidFill>
                <a:latin typeface="Menlo"/>
              </a:rPr>
              <a:t>   </a:t>
            </a:r>
            <a:r>
              <a:rPr sz="800" b="1">
                <a:solidFill>
                  <a:srgbClr val="00836E"/>
                </a:solidFill>
                <a:latin typeface="Menlo"/>
              </a:rPr>
              <a:t>04</a:t>
            </a:r>
            <a:r>
              <a:rPr sz="800">
                <a:solidFill>
                  <a:srgbClr val="D2DAE0"/>
                </a:solidFill>
                <a:latin typeface="Menlo"/>
              </a:rPr>
              <a:t>   </a:t>
            </a:r>
            <a:r>
              <a:rPr sz="800" b="0">
                <a:solidFill>
                  <a:srgbClr val="84919C"/>
                </a:solidFill>
                <a:latin typeface="Menlo"/>
                <a:hlinkClick r:id="rId8" action="ppaction://hlinksldjump"/>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85800" y="566928"/>
            <a:ext cx="10820095" cy="22860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EVALUATION · EVAL/REPORT.MD</a:t>
            </a:r>
          </a:p>
        </p:txBody>
      </p:sp>
      <p:sp>
        <p:nvSpPr>
          <p:cNvPr id="4" name="TextBox 3"/>
          <p:cNvSpPr txBox="1"/>
          <p:nvPr/>
        </p:nvSpPr>
        <p:spPr>
          <a:xfrm>
            <a:off x="685800" y="841248"/>
            <a:ext cx="8872478" cy="731520"/>
          </a:xfrm>
          <a:prstGeom prst="rect">
            <a:avLst/>
          </a:prstGeom>
          <a:noFill/>
        </p:spPr>
        <p:txBody>
          <a:bodyPr wrap="square" anchor="t" lIns="0" rIns="0" tIns="0" bIns="0">
            <a:spAutoFit/>
          </a:bodyPr>
          <a:lstStyle/>
          <a:p>
            <a:pPr algn="l">
              <a:lnSpc>
                <a:spcPct val="102000"/>
              </a:lnSpc>
            </a:pPr>
            <a:r>
              <a:rPr sz="3000" b="1">
                <a:solidFill>
                  <a:srgbClr val="131A20"/>
                </a:solidFill>
                <a:latin typeface="Helvetica Neue"/>
              </a:rPr>
              <a:t>What the numbers say — and what they don't</a:t>
            </a:r>
          </a:p>
        </p:txBody>
      </p:sp>
      <p:sp>
        <p:nvSpPr>
          <p:cNvPr id="5" name="TextBox 4"/>
          <p:cNvSpPr txBox="1"/>
          <p:nvPr/>
        </p:nvSpPr>
        <p:spPr>
          <a:xfrm>
            <a:off x="685800" y="1645920"/>
            <a:ext cx="6035040" cy="18288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RETRIEVAL · 13 QUESTIONS, K = 4</a:t>
            </a:r>
          </a:p>
        </p:txBody>
      </p:sp>
      <p:sp>
        <p:nvSpPr>
          <p:cNvPr id="6" name="TextBox 5"/>
          <p:cNvSpPr txBox="1"/>
          <p:nvPr/>
        </p:nvSpPr>
        <p:spPr>
          <a:xfrm>
            <a:off x="685800" y="1920240"/>
            <a:ext cx="2194560" cy="182880"/>
          </a:xfrm>
          <a:prstGeom prst="rect">
            <a:avLst/>
          </a:prstGeom>
          <a:noFill/>
        </p:spPr>
        <p:txBody>
          <a:bodyPr wrap="square" anchor="t" lIns="0" rIns="0" tIns="0" bIns="0">
            <a:spAutoFit/>
          </a:bodyPr>
          <a:lstStyle/>
          <a:p>
            <a:pPr algn="l">
              <a:lnSpc>
                <a:spcPct val="100000"/>
              </a:lnSpc>
            </a:pPr>
            <a:r>
              <a:rPr sz="750" b="0">
                <a:solidFill>
                  <a:srgbClr val="84919C"/>
                </a:solidFill>
                <a:latin typeface="Menlo"/>
              </a:rPr>
              <a:t>METHOD</a:t>
            </a:r>
          </a:p>
        </p:txBody>
      </p:sp>
      <p:sp>
        <p:nvSpPr>
          <p:cNvPr id="7" name="TextBox 6"/>
          <p:cNvSpPr txBox="1"/>
          <p:nvPr/>
        </p:nvSpPr>
        <p:spPr>
          <a:xfrm>
            <a:off x="3017520" y="1920240"/>
            <a:ext cx="1051560" cy="182880"/>
          </a:xfrm>
          <a:prstGeom prst="rect">
            <a:avLst/>
          </a:prstGeom>
          <a:noFill/>
        </p:spPr>
        <p:txBody>
          <a:bodyPr wrap="square" anchor="t" lIns="0" rIns="0" tIns="0" bIns="0">
            <a:spAutoFit/>
          </a:bodyPr>
          <a:lstStyle/>
          <a:p>
            <a:pPr algn="r">
              <a:lnSpc>
                <a:spcPct val="100000"/>
              </a:lnSpc>
            </a:pPr>
            <a:r>
              <a:rPr sz="750" b="0">
                <a:solidFill>
                  <a:srgbClr val="84919C"/>
                </a:solidFill>
                <a:latin typeface="Menlo"/>
              </a:rPr>
              <a:t>PASSAGE HIT@4</a:t>
            </a:r>
          </a:p>
        </p:txBody>
      </p:sp>
      <p:sp>
        <p:nvSpPr>
          <p:cNvPr id="8" name="TextBox 7"/>
          <p:cNvSpPr txBox="1"/>
          <p:nvPr/>
        </p:nvSpPr>
        <p:spPr>
          <a:xfrm>
            <a:off x="4160520" y="1920240"/>
            <a:ext cx="960120" cy="182880"/>
          </a:xfrm>
          <a:prstGeom prst="rect">
            <a:avLst/>
          </a:prstGeom>
          <a:noFill/>
        </p:spPr>
        <p:txBody>
          <a:bodyPr wrap="square" anchor="t" lIns="0" rIns="0" tIns="0" bIns="0">
            <a:spAutoFit/>
          </a:bodyPr>
          <a:lstStyle/>
          <a:p>
            <a:pPr algn="r">
              <a:lnSpc>
                <a:spcPct val="100000"/>
              </a:lnSpc>
            </a:pPr>
            <a:r>
              <a:rPr sz="750" b="0">
                <a:solidFill>
                  <a:srgbClr val="84919C"/>
                </a:solidFill>
                <a:latin typeface="Menlo"/>
              </a:rPr>
              <a:t>PASSAGE MRR@4</a:t>
            </a:r>
          </a:p>
        </p:txBody>
      </p:sp>
      <p:cxnSp>
        <p:nvCxnSpPr>
          <p:cNvPr id="9" name="Connector 8"/>
          <p:cNvCxnSpPr/>
          <p:nvPr/>
        </p:nvCxnSpPr>
        <p:spPr>
          <a:xfrm>
            <a:off x="685800" y="2139696"/>
            <a:ext cx="6035040" cy="0"/>
          </a:xfrm>
          <a:prstGeom prst="line">
            <a:avLst/>
          </a:prstGeom>
          <a:ln w="9525">
            <a:solidFill>
              <a:srgbClr val="D2DAE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85800" y="2368296"/>
            <a:ext cx="100584" cy="100584"/>
          </a:xfrm>
          <a:prstGeom prst="rect">
            <a:avLst/>
          </a:prstGeom>
          <a:solidFill>
            <a:srgbClr val="4B5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2286000"/>
            <a:ext cx="2103120" cy="219456"/>
          </a:xfrm>
          <a:prstGeom prst="rect">
            <a:avLst/>
          </a:prstGeom>
          <a:noFill/>
        </p:spPr>
        <p:txBody>
          <a:bodyPr wrap="square" anchor="t" lIns="0" rIns="0" tIns="0" bIns="0">
            <a:spAutoFit/>
          </a:bodyPr>
          <a:lstStyle/>
          <a:p>
            <a:pPr algn="l">
              <a:lnSpc>
                <a:spcPct val="100000"/>
              </a:lnSpc>
            </a:pPr>
            <a:r>
              <a:rPr sz="1100" b="0">
                <a:solidFill>
                  <a:srgbClr val="131A20"/>
                </a:solidFill>
                <a:latin typeface="Helvetica Neue"/>
              </a:rPr>
              <a:t>Vector only</a:t>
            </a:r>
          </a:p>
        </p:txBody>
      </p:sp>
      <p:sp>
        <p:nvSpPr>
          <p:cNvPr id="12" name="TextBox 11"/>
          <p:cNvSpPr txBox="1"/>
          <p:nvPr/>
        </p:nvSpPr>
        <p:spPr>
          <a:xfrm>
            <a:off x="3017520" y="2286000"/>
            <a:ext cx="1051560" cy="219456"/>
          </a:xfrm>
          <a:prstGeom prst="rect">
            <a:avLst/>
          </a:prstGeom>
          <a:noFill/>
        </p:spPr>
        <p:txBody>
          <a:bodyPr wrap="square" anchor="t" lIns="0" rIns="0" tIns="0" bIns="0">
            <a:spAutoFit/>
          </a:bodyPr>
          <a:lstStyle/>
          <a:p>
            <a:pPr algn="r">
              <a:lnSpc>
                <a:spcPct val="100000"/>
              </a:lnSpc>
            </a:pPr>
            <a:r>
              <a:rPr sz="1100" b="0">
                <a:solidFill>
                  <a:srgbClr val="56636E"/>
                </a:solidFill>
                <a:latin typeface="Helvetica Neue"/>
              </a:rPr>
              <a:t>1.00</a:t>
            </a:r>
          </a:p>
        </p:txBody>
      </p:sp>
      <p:sp>
        <p:nvSpPr>
          <p:cNvPr id="13" name="TextBox 12"/>
          <p:cNvSpPr txBox="1"/>
          <p:nvPr/>
        </p:nvSpPr>
        <p:spPr>
          <a:xfrm>
            <a:off x="4160520" y="2286000"/>
            <a:ext cx="960120" cy="219456"/>
          </a:xfrm>
          <a:prstGeom prst="rect">
            <a:avLst/>
          </a:prstGeom>
          <a:noFill/>
        </p:spPr>
        <p:txBody>
          <a:bodyPr wrap="square" anchor="t" lIns="0" rIns="0" tIns="0" bIns="0">
            <a:spAutoFit/>
          </a:bodyPr>
          <a:lstStyle/>
          <a:p>
            <a:pPr algn="r">
              <a:lnSpc>
                <a:spcPct val="100000"/>
              </a:lnSpc>
            </a:pPr>
            <a:r>
              <a:rPr sz="1100" b="0">
                <a:solidFill>
                  <a:srgbClr val="56636E"/>
                </a:solidFill>
                <a:latin typeface="Helvetica Neue"/>
              </a:rPr>
              <a:t>0.88</a:t>
            </a:r>
          </a:p>
        </p:txBody>
      </p:sp>
      <p:sp>
        <p:nvSpPr>
          <p:cNvPr id="14" name="Rectangle 13"/>
          <p:cNvSpPr/>
          <p:nvPr/>
        </p:nvSpPr>
        <p:spPr>
          <a:xfrm>
            <a:off x="5230368" y="2331720"/>
            <a:ext cx="1490472" cy="11887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230368" y="2331720"/>
            <a:ext cx="1311615" cy="118872"/>
          </a:xfrm>
          <a:prstGeom prst="rect">
            <a:avLst/>
          </a:prstGeom>
          <a:solidFill>
            <a:srgbClr val="4B50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 name="Connector 15"/>
          <p:cNvCxnSpPr/>
          <p:nvPr/>
        </p:nvCxnSpPr>
        <p:spPr>
          <a:xfrm>
            <a:off x="685800" y="2706624"/>
            <a:ext cx="6035040"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85800" y="2898648"/>
            <a:ext cx="100584" cy="100584"/>
          </a:xfrm>
          <a:prstGeom prst="rect">
            <a:avLst/>
          </a:prstGeom>
          <a:solidFill>
            <a:srgbClr val="B9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86968" y="2816352"/>
            <a:ext cx="2103120" cy="219456"/>
          </a:xfrm>
          <a:prstGeom prst="rect">
            <a:avLst/>
          </a:prstGeom>
          <a:noFill/>
        </p:spPr>
        <p:txBody>
          <a:bodyPr wrap="square" anchor="t" lIns="0" rIns="0" tIns="0" bIns="0">
            <a:spAutoFit/>
          </a:bodyPr>
          <a:lstStyle/>
          <a:p>
            <a:pPr algn="l">
              <a:lnSpc>
                <a:spcPct val="100000"/>
              </a:lnSpc>
            </a:pPr>
            <a:r>
              <a:rPr sz="1100" b="0">
                <a:solidFill>
                  <a:srgbClr val="131A20"/>
                </a:solidFill>
                <a:latin typeface="Helvetica Neue"/>
              </a:rPr>
              <a:t>BM25 only</a:t>
            </a:r>
          </a:p>
        </p:txBody>
      </p:sp>
      <p:sp>
        <p:nvSpPr>
          <p:cNvPr id="19" name="TextBox 18"/>
          <p:cNvSpPr txBox="1"/>
          <p:nvPr/>
        </p:nvSpPr>
        <p:spPr>
          <a:xfrm>
            <a:off x="3017520" y="2816352"/>
            <a:ext cx="1051560" cy="219456"/>
          </a:xfrm>
          <a:prstGeom prst="rect">
            <a:avLst/>
          </a:prstGeom>
          <a:noFill/>
        </p:spPr>
        <p:txBody>
          <a:bodyPr wrap="square" anchor="t" lIns="0" rIns="0" tIns="0" bIns="0">
            <a:spAutoFit/>
          </a:bodyPr>
          <a:lstStyle/>
          <a:p>
            <a:pPr algn="r">
              <a:lnSpc>
                <a:spcPct val="100000"/>
              </a:lnSpc>
            </a:pPr>
            <a:r>
              <a:rPr sz="1100" b="0">
                <a:solidFill>
                  <a:srgbClr val="56636E"/>
                </a:solidFill>
                <a:latin typeface="Helvetica Neue"/>
              </a:rPr>
              <a:t>0.85</a:t>
            </a:r>
          </a:p>
        </p:txBody>
      </p:sp>
      <p:sp>
        <p:nvSpPr>
          <p:cNvPr id="20" name="TextBox 19"/>
          <p:cNvSpPr txBox="1"/>
          <p:nvPr/>
        </p:nvSpPr>
        <p:spPr>
          <a:xfrm>
            <a:off x="4160520" y="2816352"/>
            <a:ext cx="960120" cy="219456"/>
          </a:xfrm>
          <a:prstGeom prst="rect">
            <a:avLst/>
          </a:prstGeom>
          <a:noFill/>
        </p:spPr>
        <p:txBody>
          <a:bodyPr wrap="square" anchor="t" lIns="0" rIns="0" tIns="0" bIns="0">
            <a:spAutoFit/>
          </a:bodyPr>
          <a:lstStyle/>
          <a:p>
            <a:pPr algn="r">
              <a:lnSpc>
                <a:spcPct val="100000"/>
              </a:lnSpc>
            </a:pPr>
            <a:r>
              <a:rPr sz="1100" b="0">
                <a:solidFill>
                  <a:srgbClr val="56636E"/>
                </a:solidFill>
                <a:latin typeface="Helvetica Neue"/>
              </a:rPr>
              <a:t>0.81</a:t>
            </a:r>
          </a:p>
        </p:txBody>
      </p:sp>
      <p:sp>
        <p:nvSpPr>
          <p:cNvPr id="21" name="Rectangle 20"/>
          <p:cNvSpPr/>
          <p:nvPr/>
        </p:nvSpPr>
        <p:spPr>
          <a:xfrm>
            <a:off x="5230368" y="2862072"/>
            <a:ext cx="1490472" cy="11887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230368" y="2862072"/>
            <a:ext cx="1207282" cy="118872"/>
          </a:xfrm>
          <a:prstGeom prst="rect">
            <a:avLst/>
          </a:prstGeom>
          <a:solidFill>
            <a:srgbClr val="B9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a:off x="685800" y="3236976"/>
            <a:ext cx="6035040"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85800" y="3429000"/>
            <a:ext cx="100584" cy="100584"/>
          </a:xfrm>
          <a:prstGeom prst="rect">
            <a:avLst/>
          </a:prstGeom>
          <a:solidFill>
            <a:srgbClr val="008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86968" y="3346704"/>
            <a:ext cx="2103120" cy="219456"/>
          </a:xfrm>
          <a:prstGeom prst="rect">
            <a:avLst/>
          </a:prstGeom>
          <a:noFill/>
        </p:spPr>
        <p:txBody>
          <a:bodyPr wrap="square" anchor="t" lIns="0" rIns="0" tIns="0" bIns="0">
            <a:spAutoFit/>
          </a:bodyPr>
          <a:lstStyle/>
          <a:p>
            <a:pPr algn="l">
              <a:lnSpc>
                <a:spcPct val="100000"/>
              </a:lnSpc>
            </a:pPr>
            <a:r>
              <a:rPr sz="1100" b="1">
                <a:solidFill>
                  <a:srgbClr val="131A20"/>
                </a:solidFill>
                <a:latin typeface="Helvetica Neue"/>
              </a:rPr>
              <a:t>Hybrid + reranked</a:t>
            </a:r>
          </a:p>
        </p:txBody>
      </p:sp>
      <p:sp>
        <p:nvSpPr>
          <p:cNvPr id="26" name="TextBox 25"/>
          <p:cNvSpPr txBox="1"/>
          <p:nvPr/>
        </p:nvSpPr>
        <p:spPr>
          <a:xfrm>
            <a:off x="3017520" y="3346704"/>
            <a:ext cx="1051560" cy="219456"/>
          </a:xfrm>
          <a:prstGeom prst="rect">
            <a:avLst/>
          </a:prstGeom>
          <a:noFill/>
        </p:spPr>
        <p:txBody>
          <a:bodyPr wrap="square" anchor="t" lIns="0" rIns="0" tIns="0" bIns="0">
            <a:spAutoFit/>
          </a:bodyPr>
          <a:lstStyle/>
          <a:p>
            <a:pPr algn="r">
              <a:lnSpc>
                <a:spcPct val="100000"/>
              </a:lnSpc>
            </a:pPr>
            <a:r>
              <a:rPr sz="1100" b="1">
                <a:solidFill>
                  <a:srgbClr val="131A20"/>
                </a:solidFill>
                <a:latin typeface="Helvetica Neue"/>
              </a:rPr>
              <a:t>1.00</a:t>
            </a:r>
          </a:p>
        </p:txBody>
      </p:sp>
      <p:sp>
        <p:nvSpPr>
          <p:cNvPr id="27" name="TextBox 26"/>
          <p:cNvSpPr txBox="1"/>
          <p:nvPr/>
        </p:nvSpPr>
        <p:spPr>
          <a:xfrm>
            <a:off x="4160520" y="3346704"/>
            <a:ext cx="960120" cy="219456"/>
          </a:xfrm>
          <a:prstGeom prst="rect">
            <a:avLst/>
          </a:prstGeom>
          <a:noFill/>
        </p:spPr>
        <p:txBody>
          <a:bodyPr wrap="square" anchor="t" lIns="0" rIns="0" tIns="0" bIns="0">
            <a:spAutoFit/>
          </a:bodyPr>
          <a:lstStyle/>
          <a:p>
            <a:pPr algn="r">
              <a:lnSpc>
                <a:spcPct val="100000"/>
              </a:lnSpc>
            </a:pPr>
            <a:r>
              <a:rPr sz="1100" b="1">
                <a:solidFill>
                  <a:srgbClr val="131A20"/>
                </a:solidFill>
                <a:latin typeface="Helvetica Neue"/>
              </a:rPr>
              <a:t>0.92</a:t>
            </a:r>
          </a:p>
        </p:txBody>
      </p:sp>
      <p:sp>
        <p:nvSpPr>
          <p:cNvPr id="28" name="Rectangle 27"/>
          <p:cNvSpPr/>
          <p:nvPr/>
        </p:nvSpPr>
        <p:spPr>
          <a:xfrm>
            <a:off x="5230368" y="3392424"/>
            <a:ext cx="1490472" cy="11887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230368" y="3392424"/>
            <a:ext cx="1371234" cy="118872"/>
          </a:xfrm>
          <a:prstGeom prst="rect">
            <a:avLst/>
          </a:prstGeom>
          <a:solidFill>
            <a:srgbClr val="008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0" name="Connector 29"/>
          <p:cNvCxnSpPr/>
          <p:nvPr/>
        </p:nvCxnSpPr>
        <p:spPr>
          <a:xfrm>
            <a:off x="685800" y="3767328"/>
            <a:ext cx="6035040"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230368" y="3858768"/>
            <a:ext cx="1490472" cy="182880"/>
          </a:xfrm>
          <a:prstGeom prst="rect">
            <a:avLst/>
          </a:prstGeom>
          <a:noFill/>
        </p:spPr>
        <p:txBody>
          <a:bodyPr wrap="square" anchor="t" lIns="0" rIns="0" tIns="0" bIns="0">
            <a:spAutoFit/>
          </a:bodyPr>
          <a:lstStyle/>
          <a:p>
            <a:pPr algn="l">
              <a:lnSpc>
                <a:spcPct val="100000"/>
              </a:lnSpc>
            </a:pPr>
            <a:r>
              <a:rPr sz="750" b="0">
                <a:solidFill>
                  <a:srgbClr val="84919C"/>
                </a:solidFill>
                <a:latin typeface="Menlo"/>
              </a:rPr>
              <a:t>MRR 0</a:t>
            </a:r>
          </a:p>
        </p:txBody>
      </p:sp>
      <p:sp>
        <p:nvSpPr>
          <p:cNvPr id="32" name="TextBox 31"/>
          <p:cNvSpPr txBox="1"/>
          <p:nvPr/>
        </p:nvSpPr>
        <p:spPr>
          <a:xfrm>
            <a:off x="5230368" y="3858768"/>
            <a:ext cx="1490472" cy="182880"/>
          </a:xfrm>
          <a:prstGeom prst="rect">
            <a:avLst/>
          </a:prstGeom>
          <a:noFill/>
        </p:spPr>
        <p:txBody>
          <a:bodyPr wrap="square" anchor="t" lIns="0" rIns="0" tIns="0" bIns="0">
            <a:spAutoFit/>
          </a:bodyPr>
          <a:lstStyle/>
          <a:p>
            <a:pPr algn="r">
              <a:lnSpc>
                <a:spcPct val="100000"/>
              </a:lnSpc>
            </a:pPr>
            <a:r>
              <a:rPr sz="750" b="0">
                <a:solidFill>
                  <a:srgbClr val="84919C"/>
                </a:solidFill>
                <a:latin typeface="Menlo"/>
              </a:rPr>
              <a:t>1.0</a:t>
            </a:r>
          </a:p>
        </p:txBody>
      </p:sp>
      <p:sp>
        <p:nvSpPr>
          <p:cNvPr id="33" name="TextBox 32"/>
          <p:cNvSpPr txBox="1"/>
          <p:nvPr/>
        </p:nvSpPr>
        <p:spPr>
          <a:xfrm>
            <a:off x="685800" y="4151376"/>
            <a:ext cx="6035040" cy="548640"/>
          </a:xfrm>
          <a:prstGeom prst="rect">
            <a:avLst/>
          </a:prstGeom>
          <a:noFill/>
        </p:spPr>
        <p:txBody>
          <a:bodyPr wrap="square" anchor="t" lIns="0" rIns="0" tIns="0" bIns="0">
            <a:spAutoFit/>
          </a:bodyPr>
          <a:lstStyle/>
          <a:p>
            <a:pPr algn="l">
              <a:lnSpc>
                <a:spcPct val="145000"/>
              </a:lnSpc>
            </a:pPr>
            <a:r>
              <a:rPr sz="950" b="0">
                <a:solidFill>
                  <a:srgbClr val="84919C"/>
                </a:solidFill>
                <a:latin typeface="Helvetica Neue"/>
              </a:rPr>
              <a:t>Document-level hit rate is 1.00 for all three arms — across seven documents it saturates. Passage-level, out of 57 chunks, is the metric with room to separate them.</a:t>
            </a:r>
          </a:p>
        </p:txBody>
      </p:sp>
      <p:sp>
        <p:nvSpPr>
          <p:cNvPr id="34" name="TextBox 33"/>
          <p:cNvSpPr txBox="1"/>
          <p:nvPr/>
        </p:nvSpPr>
        <p:spPr>
          <a:xfrm>
            <a:off x="7040880" y="1645920"/>
            <a:ext cx="4462272" cy="182880"/>
          </a:xfrm>
          <a:prstGeom prst="rect">
            <a:avLst/>
          </a:prstGeom>
          <a:noFill/>
        </p:spPr>
        <p:txBody>
          <a:bodyPr wrap="square" anchor="t" lIns="0" rIns="0" tIns="0" bIns="0">
            <a:spAutoFit/>
          </a:bodyPr>
          <a:lstStyle/>
          <a:p>
            <a:pPr algn="l">
              <a:lnSpc>
                <a:spcPct val="100000"/>
              </a:lnSpc>
            </a:pPr>
            <a:r>
              <a:rPr sz="850" b="0">
                <a:solidFill>
                  <a:srgbClr val="84919C"/>
                </a:solidFill>
                <a:latin typeface="Menlo"/>
              </a:rPr>
              <a:t>GENERATION · 16 QUESTIONS</a:t>
            </a:r>
          </a:p>
        </p:txBody>
      </p:sp>
      <p:sp>
        <p:nvSpPr>
          <p:cNvPr id="35" name="Rectangle 34"/>
          <p:cNvSpPr/>
          <p:nvPr/>
        </p:nvSpPr>
        <p:spPr>
          <a:xfrm>
            <a:off x="7040880" y="1920240"/>
            <a:ext cx="2167128" cy="932688"/>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223760" y="2066544"/>
            <a:ext cx="1801368" cy="274320"/>
          </a:xfrm>
          <a:prstGeom prst="rect">
            <a:avLst/>
          </a:prstGeom>
          <a:noFill/>
        </p:spPr>
        <p:txBody>
          <a:bodyPr wrap="square" anchor="t" lIns="0" rIns="0" tIns="0" bIns="0">
            <a:spAutoFit/>
          </a:bodyPr>
          <a:lstStyle/>
          <a:p>
            <a:pPr algn="l">
              <a:lnSpc>
                <a:spcPct val="100000"/>
              </a:lnSpc>
            </a:pPr>
            <a:r>
              <a:rPr sz="1900" b="1">
                <a:solidFill>
                  <a:srgbClr val="131A20"/>
                </a:solidFill>
                <a:latin typeface="Helvetica Neue"/>
              </a:rPr>
              <a:t>1.00</a:t>
            </a:r>
          </a:p>
        </p:txBody>
      </p:sp>
      <p:sp>
        <p:nvSpPr>
          <p:cNvPr id="37" name="TextBox 36"/>
          <p:cNvSpPr txBox="1"/>
          <p:nvPr/>
        </p:nvSpPr>
        <p:spPr>
          <a:xfrm>
            <a:off x="7223760" y="2423160"/>
            <a:ext cx="1801368" cy="365760"/>
          </a:xfrm>
          <a:prstGeom prst="rect">
            <a:avLst/>
          </a:prstGeom>
          <a:noFill/>
        </p:spPr>
        <p:txBody>
          <a:bodyPr wrap="square" anchor="t" lIns="0" rIns="0" tIns="0" bIns="0">
            <a:spAutoFit/>
          </a:bodyPr>
          <a:lstStyle/>
          <a:p>
            <a:pPr algn="l">
              <a:lnSpc>
                <a:spcPct val="135000"/>
              </a:lnSpc>
            </a:pPr>
            <a:r>
              <a:rPr sz="800" b="0">
                <a:solidFill>
                  <a:srgbClr val="84919C"/>
                </a:solidFill>
                <a:latin typeface="Menlo"/>
              </a:rPr>
              <a:t>Faithfulness</a:t>
            </a:r>
          </a:p>
          <a:p>
            <a:pPr algn="l">
              <a:lnSpc>
                <a:spcPct val="135000"/>
              </a:lnSpc>
              <a:spcBef>
                <a:spcPts val="0"/>
              </a:spcBef>
            </a:pPr>
            <a:r>
              <a:rPr sz="800" b="0">
                <a:solidFill>
                  <a:srgbClr val="84919C"/>
                </a:solidFill>
                <a:latin typeface="Menlo"/>
              </a:rPr>
              <a:t>LLM-judge</a:t>
            </a:r>
          </a:p>
        </p:txBody>
      </p:sp>
      <p:sp>
        <p:nvSpPr>
          <p:cNvPr id="38" name="Rectangle 37"/>
          <p:cNvSpPr/>
          <p:nvPr/>
        </p:nvSpPr>
        <p:spPr>
          <a:xfrm>
            <a:off x="9336024" y="1920240"/>
            <a:ext cx="2167128" cy="932688"/>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518904" y="2066544"/>
            <a:ext cx="1801368" cy="274320"/>
          </a:xfrm>
          <a:prstGeom prst="rect">
            <a:avLst/>
          </a:prstGeom>
          <a:noFill/>
        </p:spPr>
        <p:txBody>
          <a:bodyPr wrap="square" anchor="t" lIns="0" rIns="0" tIns="0" bIns="0">
            <a:spAutoFit/>
          </a:bodyPr>
          <a:lstStyle/>
          <a:p>
            <a:pPr algn="l">
              <a:lnSpc>
                <a:spcPct val="100000"/>
              </a:lnSpc>
            </a:pPr>
            <a:r>
              <a:rPr sz="1900" b="1">
                <a:solidFill>
                  <a:srgbClr val="131A20"/>
                </a:solidFill>
                <a:latin typeface="Helvetica Neue"/>
              </a:rPr>
              <a:t>1.00</a:t>
            </a:r>
          </a:p>
        </p:txBody>
      </p:sp>
      <p:sp>
        <p:nvSpPr>
          <p:cNvPr id="40" name="TextBox 39"/>
          <p:cNvSpPr txBox="1"/>
          <p:nvPr/>
        </p:nvSpPr>
        <p:spPr>
          <a:xfrm>
            <a:off x="9518904" y="2423160"/>
            <a:ext cx="1801368" cy="365760"/>
          </a:xfrm>
          <a:prstGeom prst="rect">
            <a:avLst/>
          </a:prstGeom>
          <a:noFill/>
        </p:spPr>
        <p:txBody>
          <a:bodyPr wrap="square" anchor="t" lIns="0" rIns="0" tIns="0" bIns="0">
            <a:spAutoFit/>
          </a:bodyPr>
          <a:lstStyle/>
          <a:p>
            <a:pPr algn="l">
              <a:lnSpc>
                <a:spcPct val="135000"/>
              </a:lnSpc>
            </a:pPr>
            <a:r>
              <a:rPr sz="800" b="0">
                <a:solidFill>
                  <a:srgbClr val="84919C"/>
                </a:solidFill>
                <a:latin typeface="Menlo"/>
              </a:rPr>
              <a:t>Answer relevancy</a:t>
            </a:r>
          </a:p>
          <a:p>
            <a:pPr algn="l">
              <a:lnSpc>
                <a:spcPct val="135000"/>
              </a:lnSpc>
              <a:spcBef>
                <a:spcPts val="0"/>
              </a:spcBef>
            </a:pPr>
            <a:r>
              <a:rPr sz="800" b="0">
                <a:solidFill>
                  <a:srgbClr val="84919C"/>
                </a:solidFill>
                <a:latin typeface="Menlo"/>
              </a:rPr>
              <a:t>LLM-judge</a:t>
            </a:r>
          </a:p>
        </p:txBody>
      </p:sp>
      <p:sp>
        <p:nvSpPr>
          <p:cNvPr id="41" name="Rectangle 40"/>
          <p:cNvSpPr/>
          <p:nvPr/>
        </p:nvSpPr>
        <p:spPr>
          <a:xfrm>
            <a:off x="7040880" y="2980944"/>
            <a:ext cx="2167128" cy="932688"/>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223760" y="3127248"/>
            <a:ext cx="1801368" cy="274320"/>
          </a:xfrm>
          <a:prstGeom prst="rect">
            <a:avLst/>
          </a:prstGeom>
          <a:noFill/>
        </p:spPr>
        <p:txBody>
          <a:bodyPr wrap="square" anchor="t" lIns="0" rIns="0" tIns="0" bIns="0">
            <a:spAutoFit/>
          </a:bodyPr>
          <a:lstStyle/>
          <a:p>
            <a:pPr algn="l">
              <a:lnSpc>
                <a:spcPct val="100000"/>
              </a:lnSpc>
            </a:pPr>
            <a:r>
              <a:rPr sz="1900" b="1">
                <a:solidFill>
                  <a:srgbClr val="131A20"/>
                </a:solidFill>
                <a:latin typeface="Helvetica Neue"/>
              </a:rPr>
              <a:t>1.00</a:t>
            </a:r>
          </a:p>
        </p:txBody>
      </p:sp>
      <p:sp>
        <p:nvSpPr>
          <p:cNvPr id="43" name="TextBox 42"/>
          <p:cNvSpPr txBox="1"/>
          <p:nvPr/>
        </p:nvSpPr>
        <p:spPr>
          <a:xfrm>
            <a:off x="7223760" y="3483864"/>
            <a:ext cx="1801368" cy="365760"/>
          </a:xfrm>
          <a:prstGeom prst="rect">
            <a:avLst/>
          </a:prstGeom>
          <a:noFill/>
        </p:spPr>
        <p:txBody>
          <a:bodyPr wrap="square" anchor="t" lIns="0" rIns="0" tIns="0" bIns="0">
            <a:spAutoFit/>
          </a:bodyPr>
          <a:lstStyle/>
          <a:p>
            <a:pPr algn="l">
              <a:lnSpc>
                <a:spcPct val="135000"/>
              </a:lnSpc>
            </a:pPr>
            <a:r>
              <a:rPr sz="800" b="0">
                <a:solidFill>
                  <a:srgbClr val="84919C"/>
                </a:solidFill>
                <a:latin typeface="Menlo"/>
              </a:rPr>
              <a:t>Citation coverage</a:t>
            </a:r>
          </a:p>
          <a:p>
            <a:pPr algn="l">
              <a:lnSpc>
                <a:spcPct val="135000"/>
              </a:lnSpc>
              <a:spcBef>
                <a:spcPts val="0"/>
              </a:spcBef>
            </a:pPr>
            <a:r>
              <a:rPr sz="800" b="0">
                <a:solidFill>
                  <a:srgbClr val="84919C"/>
                </a:solidFill>
                <a:latin typeface="Menlo"/>
              </a:rPr>
              <a:t>expected source cited</a:t>
            </a:r>
          </a:p>
        </p:txBody>
      </p:sp>
      <p:sp>
        <p:nvSpPr>
          <p:cNvPr id="44" name="Rectangle 43"/>
          <p:cNvSpPr/>
          <p:nvPr/>
        </p:nvSpPr>
        <p:spPr>
          <a:xfrm>
            <a:off x="9336024" y="2980944"/>
            <a:ext cx="2167128" cy="932688"/>
          </a:xfrm>
          <a:prstGeom prst="rect">
            <a:avLst/>
          </a:prstGeom>
          <a:solidFill>
            <a:srgbClr val="F3F6F8"/>
          </a:solidFill>
          <a:ln w="9525">
            <a:solidFill>
              <a:srgbClr val="E3E9E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18904" y="3127248"/>
            <a:ext cx="1801368" cy="274320"/>
          </a:xfrm>
          <a:prstGeom prst="rect">
            <a:avLst/>
          </a:prstGeom>
          <a:noFill/>
        </p:spPr>
        <p:txBody>
          <a:bodyPr wrap="square" anchor="t" lIns="0" rIns="0" tIns="0" bIns="0">
            <a:spAutoFit/>
          </a:bodyPr>
          <a:lstStyle/>
          <a:p>
            <a:pPr algn="l">
              <a:lnSpc>
                <a:spcPct val="100000"/>
              </a:lnSpc>
            </a:pPr>
            <a:r>
              <a:rPr sz="1900" b="1">
                <a:solidFill>
                  <a:srgbClr val="131A20"/>
                </a:solidFill>
                <a:latin typeface="Helvetica Neue"/>
              </a:rPr>
              <a:t>1.00</a:t>
            </a:r>
          </a:p>
        </p:txBody>
      </p:sp>
      <p:sp>
        <p:nvSpPr>
          <p:cNvPr id="46" name="TextBox 45"/>
          <p:cNvSpPr txBox="1"/>
          <p:nvPr/>
        </p:nvSpPr>
        <p:spPr>
          <a:xfrm>
            <a:off x="9518904" y="3483864"/>
            <a:ext cx="1801368" cy="365760"/>
          </a:xfrm>
          <a:prstGeom prst="rect">
            <a:avLst/>
          </a:prstGeom>
          <a:noFill/>
        </p:spPr>
        <p:txBody>
          <a:bodyPr wrap="square" anchor="t" lIns="0" rIns="0" tIns="0" bIns="0">
            <a:spAutoFit/>
          </a:bodyPr>
          <a:lstStyle/>
          <a:p>
            <a:pPr algn="l">
              <a:lnSpc>
                <a:spcPct val="135000"/>
              </a:lnSpc>
            </a:pPr>
            <a:r>
              <a:rPr sz="800" b="0">
                <a:solidFill>
                  <a:srgbClr val="84919C"/>
                </a:solidFill>
                <a:latin typeface="Menlo"/>
              </a:rPr>
              <a:t>Refusal accuracy</a:t>
            </a:r>
          </a:p>
          <a:p>
            <a:pPr algn="l">
              <a:lnSpc>
                <a:spcPct val="135000"/>
              </a:lnSpc>
              <a:spcBef>
                <a:spcPts val="0"/>
              </a:spcBef>
            </a:pPr>
            <a:r>
              <a:rPr sz="800" b="0">
                <a:solidFill>
                  <a:srgbClr val="84919C"/>
                </a:solidFill>
                <a:latin typeface="Menlo"/>
              </a:rPr>
              <a:t>3 unanswerable</a:t>
            </a:r>
          </a:p>
        </p:txBody>
      </p:sp>
      <p:sp>
        <p:nvSpPr>
          <p:cNvPr id="47" name="Rectangle 46"/>
          <p:cNvSpPr/>
          <p:nvPr/>
        </p:nvSpPr>
        <p:spPr>
          <a:xfrm>
            <a:off x="7040880" y="4041648"/>
            <a:ext cx="4462272" cy="731520"/>
          </a:xfrm>
          <a:prstGeom prst="rect">
            <a:avLst/>
          </a:prstGeom>
          <a:solidFill>
            <a:srgbClr val="E6F2EF"/>
          </a:solidFill>
          <a:ln w="9525">
            <a:solidFill>
              <a:srgbClr val="00836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223760" y="4261104"/>
            <a:ext cx="1828800" cy="292608"/>
          </a:xfrm>
          <a:prstGeom prst="rect">
            <a:avLst/>
          </a:prstGeom>
          <a:noFill/>
        </p:spPr>
        <p:txBody>
          <a:bodyPr wrap="square" anchor="t" lIns="0" rIns="0" tIns="0" bIns="0">
            <a:spAutoFit/>
          </a:bodyPr>
          <a:lstStyle/>
          <a:p>
            <a:pPr algn="l">
              <a:lnSpc>
                <a:spcPct val="100000"/>
              </a:lnSpc>
            </a:pPr>
            <a:r>
              <a:rPr sz="1900" b="1">
                <a:solidFill>
                  <a:srgbClr val="00836E"/>
                </a:solidFill>
                <a:latin typeface="Helvetica Neue"/>
              </a:rPr>
              <a:t>1.00</a:t>
            </a:r>
          </a:p>
        </p:txBody>
      </p:sp>
      <p:sp>
        <p:nvSpPr>
          <p:cNvPr id="49" name="TextBox 48"/>
          <p:cNvSpPr txBox="1"/>
          <p:nvPr/>
        </p:nvSpPr>
        <p:spPr>
          <a:xfrm>
            <a:off x="9125712" y="4224528"/>
            <a:ext cx="2194560" cy="411480"/>
          </a:xfrm>
          <a:prstGeom prst="rect">
            <a:avLst/>
          </a:prstGeom>
          <a:noFill/>
        </p:spPr>
        <p:txBody>
          <a:bodyPr wrap="square" anchor="t" lIns="0" rIns="0" tIns="0" bIns="0">
            <a:spAutoFit/>
          </a:bodyPr>
          <a:lstStyle/>
          <a:p>
            <a:pPr algn="r">
              <a:lnSpc>
                <a:spcPct val="135000"/>
              </a:lnSpc>
            </a:pPr>
            <a:r>
              <a:rPr sz="800" b="0">
                <a:solidFill>
                  <a:srgbClr val="84919C"/>
                </a:solidFill>
                <a:latin typeface="Menlo"/>
              </a:rPr>
              <a:t>Multi-turn memory</a:t>
            </a:r>
          </a:p>
          <a:p>
            <a:pPr algn="r">
              <a:lnSpc>
                <a:spcPct val="135000"/>
              </a:lnSpc>
              <a:spcBef>
                <a:spcPts val="0"/>
              </a:spcBef>
            </a:pPr>
            <a:r>
              <a:rPr sz="800" b="0">
                <a:solidFill>
                  <a:srgbClr val="84919C"/>
                </a:solidFill>
                <a:latin typeface="Menlo"/>
              </a:rPr>
              <a:t>2 conversations</a:t>
            </a:r>
          </a:p>
        </p:txBody>
      </p:sp>
      <p:cxnSp>
        <p:nvCxnSpPr>
          <p:cNvPr id="50" name="Connector 49"/>
          <p:cNvCxnSpPr/>
          <p:nvPr/>
        </p:nvCxnSpPr>
        <p:spPr>
          <a:xfrm>
            <a:off x="685800" y="5138928"/>
            <a:ext cx="10820095" cy="0"/>
          </a:xfrm>
          <a:prstGeom prst="line">
            <a:avLst/>
          </a:prstGeom>
          <a:ln w="9525">
            <a:solidFill>
              <a:srgbClr val="D2DAE0"/>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85800" y="5303520"/>
            <a:ext cx="3271418" cy="182880"/>
          </a:xfrm>
          <a:prstGeom prst="rect">
            <a:avLst/>
          </a:prstGeom>
          <a:noFill/>
        </p:spPr>
        <p:txBody>
          <a:bodyPr wrap="square" anchor="t" lIns="0" rIns="0" tIns="0" bIns="0">
            <a:spAutoFit/>
          </a:bodyPr>
          <a:lstStyle/>
          <a:p>
            <a:pPr algn="l">
              <a:lnSpc>
                <a:spcPct val="100000"/>
              </a:lnSpc>
            </a:pPr>
            <a:r>
              <a:rPr sz="900" b="1">
                <a:solidFill>
                  <a:srgbClr val="131A20"/>
                </a:solidFill>
                <a:latin typeface="Menlo"/>
              </a:rPr>
              <a:t>The judge is itself an LLM</a:t>
            </a:r>
          </a:p>
        </p:txBody>
      </p:sp>
      <p:sp>
        <p:nvSpPr>
          <p:cNvPr id="52" name="TextBox 51"/>
          <p:cNvSpPr txBox="1"/>
          <p:nvPr/>
        </p:nvSpPr>
        <p:spPr>
          <a:xfrm>
            <a:off x="685800" y="5522976"/>
            <a:ext cx="3271418" cy="640080"/>
          </a:xfrm>
          <a:prstGeom prst="rect">
            <a:avLst/>
          </a:prstGeom>
          <a:noFill/>
        </p:spPr>
        <p:txBody>
          <a:bodyPr wrap="square" anchor="t" lIns="0" rIns="0" tIns="0" bIns="0">
            <a:spAutoFit/>
          </a:bodyPr>
          <a:lstStyle/>
          <a:p>
            <a:pPr algn="l">
              <a:lnSpc>
                <a:spcPct val="142000"/>
              </a:lnSpc>
            </a:pPr>
            <a:r>
              <a:rPr sz="950" b="0">
                <a:solidFill>
                  <a:srgbClr val="84919C"/>
                </a:solidFill>
                <a:latin typeface="Helvetica Neue"/>
              </a:rPr>
              <a:t>Faithfulness and relevancy come from eval/run_generation_eval.py. Read them as directional signal, not ground truth.</a:t>
            </a:r>
          </a:p>
        </p:txBody>
      </p:sp>
      <p:sp>
        <p:nvSpPr>
          <p:cNvPr id="53" name="TextBox 52"/>
          <p:cNvSpPr txBox="1"/>
          <p:nvPr/>
        </p:nvSpPr>
        <p:spPr>
          <a:xfrm>
            <a:off x="4460138" y="5303520"/>
            <a:ext cx="3271418" cy="182880"/>
          </a:xfrm>
          <a:prstGeom prst="rect">
            <a:avLst/>
          </a:prstGeom>
          <a:noFill/>
        </p:spPr>
        <p:txBody>
          <a:bodyPr wrap="square" anchor="t" lIns="0" rIns="0" tIns="0" bIns="0">
            <a:spAutoFit/>
          </a:bodyPr>
          <a:lstStyle/>
          <a:p>
            <a:pPr algn="l">
              <a:lnSpc>
                <a:spcPct val="100000"/>
              </a:lnSpc>
            </a:pPr>
            <a:r>
              <a:rPr sz="900" b="1">
                <a:solidFill>
                  <a:srgbClr val="131A20"/>
                </a:solidFill>
                <a:latin typeface="Menlo"/>
              </a:rPr>
              <a:t>The corpus is small</a:t>
            </a:r>
          </a:p>
        </p:txBody>
      </p:sp>
      <p:sp>
        <p:nvSpPr>
          <p:cNvPr id="54" name="TextBox 53"/>
          <p:cNvSpPr txBox="1"/>
          <p:nvPr/>
        </p:nvSpPr>
        <p:spPr>
          <a:xfrm>
            <a:off x="4460138" y="5522976"/>
            <a:ext cx="3271418" cy="640080"/>
          </a:xfrm>
          <a:prstGeom prst="rect">
            <a:avLst/>
          </a:prstGeom>
          <a:noFill/>
        </p:spPr>
        <p:txBody>
          <a:bodyPr wrap="square" anchor="t" lIns="0" rIns="0" tIns="0" bIns="0">
            <a:spAutoFit/>
          </a:bodyPr>
          <a:lstStyle/>
          <a:p>
            <a:pPr algn="l">
              <a:lnSpc>
                <a:spcPct val="142000"/>
              </a:lnSpc>
            </a:pPr>
            <a:r>
              <a:rPr sz="950" b="0">
                <a:solidFill>
                  <a:srgbClr val="84919C"/>
                </a:solidFill>
                <a:latin typeface="Helvetica Neue"/>
              </a:rPr>
              <a:t>57 chunks and 16 questions. Perfect scores at this size would not survive a real enterprise document set.</a:t>
            </a:r>
          </a:p>
        </p:txBody>
      </p:sp>
      <p:sp>
        <p:nvSpPr>
          <p:cNvPr id="55" name="TextBox 54"/>
          <p:cNvSpPr txBox="1"/>
          <p:nvPr/>
        </p:nvSpPr>
        <p:spPr>
          <a:xfrm>
            <a:off x="8234476" y="5303520"/>
            <a:ext cx="3271418" cy="182880"/>
          </a:xfrm>
          <a:prstGeom prst="rect">
            <a:avLst/>
          </a:prstGeom>
          <a:noFill/>
        </p:spPr>
        <p:txBody>
          <a:bodyPr wrap="square" anchor="t" lIns="0" rIns="0" tIns="0" bIns="0">
            <a:spAutoFit/>
          </a:bodyPr>
          <a:lstStyle/>
          <a:p>
            <a:pPr algn="l">
              <a:lnSpc>
                <a:spcPct val="100000"/>
              </a:lnSpc>
            </a:pPr>
            <a:r>
              <a:rPr sz="900" b="1">
                <a:solidFill>
                  <a:srgbClr val="131A20"/>
                </a:solidFill>
                <a:latin typeface="Menlo"/>
              </a:rPr>
              <a:t>Known costs</a:t>
            </a:r>
          </a:p>
        </p:txBody>
      </p:sp>
      <p:sp>
        <p:nvSpPr>
          <p:cNvPr id="56" name="TextBox 55"/>
          <p:cNvSpPr txBox="1"/>
          <p:nvPr/>
        </p:nvSpPr>
        <p:spPr>
          <a:xfrm>
            <a:off x="8234476" y="5522976"/>
            <a:ext cx="3271418" cy="640080"/>
          </a:xfrm>
          <a:prstGeom prst="rect">
            <a:avLst/>
          </a:prstGeom>
          <a:noFill/>
        </p:spPr>
        <p:txBody>
          <a:bodyPr wrap="square" anchor="t" lIns="0" rIns="0" tIns="0" bIns="0">
            <a:spAutoFit/>
          </a:bodyPr>
          <a:lstStyle/>
          <a:p>
            <a:pPr algn="l">
              <a:lnSpc>
                <a:spcPct val="142000"/>
              </a:lnSpc>
            </a:pPr>
            <a:r>
              <a:rPr sz="950" b="0">
                <a:solidFill>
                  <a:srgbClr val="84919C"/>
                </a:solidFill>
                <a:latin typeface="Helvetica Neue"/>
              </a:rPr>
              <a:t>Condensation adds a round-trip per follow-up, the CPU reranker is the slowest stage, and build_index() has no incremental path.</a:t>
            </a:r>
          </a:p>
        </p:txBody>
      </p:sp>
      <p:cxnSp>
        <p:nvCxnSpPr>
          <p:cNvPr id="57" name="Connector 56"/>
          <p:cNvCxnSpPr/>
          <p:nvPr/>
        </p:nvCxnSpPr>
        <p:spPr>
          <a:xfrm>
            <a:off x="685800" y="6327648"/>
            <a:ext cx="10820095" cy="0"/>
          </a:xfrm>
          <a:prstGeom prst="line">
            <a:avLst/>
          </a:prstGeom>
          <a:ln w="9525">
            <a:solidFill>
              <a:srgbClr val="E3E9ED"/>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85800" y="6437376"/>
            <a:ext cx="6400800" cy="201168"/>
          </a:xfrm>
          <a:prstGeom prst="rect">
            <a:avLst/>
          </a:prstGeom>
          <a:noFill/>
        </p:spPr>
        <p:txBody>
          <a:bodyPr wrap="square" anchor="t" lIns="0" rIns="0" tIns="0" bIns="0">
            <a:spAutoFit/>
          </a:bodyPr>
          <a:lstStyle/>
          <a:p>
            <a:pPr algn="l">
              <a:lnSpc>
                <a:spcPct val="100000"/>
              </a:lnSpc>
            </a:pPr>
            <a:r>
              <a:rPr sz="800" b="0">
                <a:solidFill>
                  <a:srgbClr val="84919C"/>
                </a:solidFill>
                <a:latin typeface="Menlo"/>
              </a:rPr>
              <a:t>Employee Knowledge Assistant  ·  IIT Patna USDC GenAI Capstone  ·  Evaluation</a:t>
            </a:r>
          </a:p>
        </p:txBody>
      </p:sp>
      <p:sp>
        <p:nvSpPr>
          <p:cNvPr id="59" name="TextBox 58"/>
          <p:cNvSpPr txBox="1"/>
          <p:nvPr/>
        </p:nvSpPr>
        <p:spPr>
          <a:xfrm>
            <a:off x="8579815" y="6437376"/>
            <a:ext cx="2926080" cy="201168"/>
          </a:xfrm>
          <a:prstGeom prst="rect">
            <a:avLst/>
          </a:prstGeom>
          <a:noFill/>
        </p:spPr>
        <p:txBody>
          <a:bodyPr wrap="none" lIns="0" rIns="0" tIns="0" bIns="0">
            <a:spAutoFit/>
          </a:bodyPr>
          <a:lstStyle/>
          <a:p>
            <a:pPr algn="r">
              <a:lnSpc>
                <a:spcPct val="100000"/>
              </a:lnSpc>
            </a:pPr>
            <a:r>
              <a:rPr sz="800" b="0">
                <a:solidFill>
                  <a:srgbClr val="84919C"/>
                </a:solidFill>
                <a:latin typeface="Menlo"/>
                <a:hlinkClick r:id="rId2" action="ppaction://hlinksldjump"/>
              </a:rPr>
              <a:t>01</a:t>
            </a:r>
            <a:r>
              <a:rPr sz="800">
                <a:solidFill>
                  <a:srgbClr val="D2DAE0"/>
                </a:solidFill>
                <a:latin typeface="Menlo"/>
              </a:rPr>
              <a:t>   </a:t>
            </a:r>
            <a:r>
              <a:rPr sz="800" b="0">
                <a:solidFill>
                  <a:srgbClr val="84919C"/>
                </a:solidFill>
                <a:latin typeface="Menlo"/>
                <a:hlinkClick r:id="rId3" action="ppaction://hlinksldjump"/>
              </a:rPr>
              <a:t>02</a:t>
            </a:r>
            <a:r>
              <a:rPr sz="800">
                <a:solidFill>
                  <a:srgbClr val="D2DAE0"/>
                </a:solidFill>
                <a:latin typeface="Menlo"/>
              </a:rPr>
              <a:t>   </a:t>
            </a:r>
            <a:r>
              <a:rPr sz="800" b="0">
                <a:solidFill>
                  <a:srgbClr val="84919C"/>
                </a:solidFill>
                <a:latin typeface="Menlo"/>
                <a:hlinkClick r:id="rId4" action="ppaction://hlinksldjump"/>
              </a:rPr>
              <a:t>03</a:t>
            </a:r>
            <a:r>
              <a:rPr sz="800">
                <a:solidFill>
                  <a:srgbClr val="D2DAE0"/>
                </a:solidFill>
                <a:latin typeface="Menlo"/>
              </a:rPr>
              <a:t>   </a:t>
            </a:r>
            <a:r>
              <a:rPr sz="800" b="0">
                <a:solidFill>
                  <a:srgbClr val="84919C"/>
                </a:solidFill>
                <a:latin typeface="Menlo"/>
                <a:hlinkClick r:id="rId5" action="ppaction://hlinksldjump"/>
              </a:rPr>
              <a:t>04</a:t>
            </a:r>
            <a:r>
              <a:rPr sz="800">
                <a:solidFill>
                  <a:srgbClr val="D2DAE0"/>
                </a:solidFill>
                <a:latin typeface="Menlo"/>
              </a:rPr>
              <a:t>   </a:t>
            </a:r>
            <a:r>
              <a:rPr sz="800" b="1">
                <a:solidFill>
                  <a:srgbClr val="00836E"/>
                </a:solidFill>
                <a:latin typeface="Menlo"/>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Knowledge Assistant</dc:title>
  <dc:subject>Advanced RAG capstone — IIT Patna USDC GenAI Development Program</dc:subject>
  <dc:creator>Ankit Bharti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